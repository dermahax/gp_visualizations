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tags/tag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6"/>
  </p:notesMasterIdLst>
  <p:handoutMasterIdLst>
    <p:handoutMasterId r:id="rId37"/>
  </p:handoutMasterIdLst>
  <p:sldIdLst>
    <p:sldId id="256" r:id="rId6"/>
    <p:sldId id="2146848308" r:id="rId7"/>
    <p:sldId id="2146848318" r:id="rId8"/>
    <p:sldId id="2147473969" r:id="rId9"/>
    <p:sldId id="2147473965" r:id="rId10"/>
    <p:sldId id="2147473972" r:id="rId11"/>
    <p:sldId id="2147473974" r:id="rId12"/>
    <p:sldId id="2147473973" r:id="rId13"/>
    <p:sldId id="2147473970" r:id="rId14"/>
    <p:sldId id="2147473968" r:id="rId15"/>
    <p:sldId id="2146848309" r:id="rId16"/>
    <p:sldId id="2147473966" r:id="rId17"/>
    <p:sldId id="2147473967" r:id="rId18"/>
    <p:sldId id="2146848319" r:id="rId19"/>
    <p:sldId id="2147473894" r:id="rId20"/>
    <p:sldId id="2147473961" r:id="rId21"/>
    <p:sldId id="2147473964" r:id="rId22"/>
    <p:sldId id="2147473963" r:id="rId23"/>
    <p:sldId id="2147473829" r:id="rId24"/>
    <p:sldId id="2147473957" r:id="rId25"/>
    <p:sldId id="2146848310" r:id="rId26"/>
    <p:sldId id="2146848311" r:id="rId27"/>
    <p:sldId id="2146848307" r:id="rId28"/>
    <p:sldId id="2146848312" r:id="rId29"/>
    <p:sldId id="2146848313" r:id="rId30"/>
    <p:sldId id="2146848314" r:id="rId31"/>
    <p:sldId id="2146848315" r:id="rId32"/>
    <p:sldId id="257" r:id="rId33"/>
    <p:sldId id="2146848316" r:id="rId34"/>
    <p:sldId id="2146848317" r:id="rId35"/>
  </p:sldIdLst>
  <p:sldSz cx="12192000" cy="6858000"/>
  <p:notesSz cx="6800850" cy="9926638"/>
  <p:custDataLst>
    <p:tags r:id="rId3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E+H Serif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E+H Serif" pitchFamily="2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3BD22D-2DB2-4856-9441-A720093A228B}">
          <p14:sldIdLst>
            <p14:sldId id="256"/>
            <p14:sldId id="2146848308"/>
          </p14:sldIdLst>
        </p14:section>
        <p14:section name="Max" id="{56E1AE69-0229-40E9-A8FC-CF129BA6EDB9}">
          <p14:sldIdLst>
            <p14:sldId id="2146848318"/>
            <p14:sldId id="2147473969"/>
            <p14:sldId id="2147473965"/>
            <p14:sldId id="2147473972"/>
            <p14:sldId id="2147473974"/>
            <p14:sldId id="2147473973"/>
            <p14:sldId id="2147473970"/>
            <p14:sldId id="2147473968"/>
            <p14:sldId id="2146848309"/>
            <p14:sldId id="2147473966"/>
            <p14:sldId id="2147473967"/>
            <p14:sldId id="2146848319"/>
            <p14:sldId id="2147473894"/>
            <p14:sldId id="2147473961"/>
            <p14:sldId id="2147473964"/>
            <p14:sldId id="2147473963"/>
            <p14:sldId id="2147473829"/>
            <p14:sldId id="2147473957"/>
          </p14:sldIdLst>
        </p14:section>
        <p14:section name="Timo" id="{93A376AF-43FF-46E2-8B42-1C7D33A111D8}">
          <p14:sldIdLst>
            <p14:sldId id="2146848310"/>
            <p14:sldId id="2146848311"/>
            <p14:sldId id="2146848307"/>
            <p14:sldId id="2146848312"/>
            <p14:sldId id="2146848313"/>
            <p14:sldId id="2146848314"/>
            <p14:sldId id="2146848315"/>
            <p14:sldId id="257"/>
            <p14:sldId id="2146848316"/>
            <p14:sldId id="2146848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pos="7469" userDrawn="1">
          <p15:clr>
            <a:srgbClr val="A4A3A4"/>
          </p15:clr>
        </p15:guide>
        <p15:guide id="5" pos="63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D386"/>
    <a:srgbClr val="59AAE1"/>
    <a:srgbClr val="ED7F73"/>
    <a:srgbClr val="EE8277"/>
    <a:srgbClr val="90295D"/>
    <a:srgbClr val="E6ECF0"/>
    <a:srgbClr val="FFFFFF"/>
    <a:srgbClr val="C3C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7B71D2-CA9A-4C58-AE14-4B1EE718D6E4}">
  <a:tblStyle styleId="{DB7B71D2-CA9A-4C58-AE14-4B1EE718D6E4}" styleName="E+H">
    <a:tblBg>
      <a:effect>
        <a:effectLst/>
      </a:effect>
    </a:tblBg>
    <a:wholeTbl>
      <a:tcTxStyle b="off" i="of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dk1"/>
      </a:tcTxStyle>
      <a:tcStyle>
        <a:tcBdr/>
        <a:fill>
          <a:solidFill>
            <a:srgbClr val="E6ECF0"/>
          </a:solidFill>
        </a:fill>
      </a:tcStyle>
    </a:band1H>
    <a:band2H>
      <a:tcTxStyle b="off" i="off">
        <a:fontRef idx="minor"/>
        <a:schemeClr val="dk1"/>
      </a:tcTxStyle>
      <a:tcStyle>
        <a:tcBdr/>
        <a:fill>
          <a:solidFill>
            <a:srgbClr val="C3CED5"/>
          </a:solidFill>
        </a:fill>
      </a:tcStyle>
    </a:band2H>
    <a:band1V>
      <a:tcTxStyle b="off" i="off">
        <a:fontRef idx="minor"/>
        <a:schemeClr val="dk1"/>
      </a:tcTxStyle>
      <a:tcStyle>
        <a:tcBdr/>
        <a:fill>
          <a:solidFill>
            <a:srgbClr val="E6ECF0"/>
          </a:solidFill>
        </a:fill>
      </a:tcStyle>
    </a:band1V>
    <a:band2V>
      <a:tcTxStyle b="off" i="off">
        <a:fontRef idx="minor"/>
        <a:schemeClr val="dk1"/>
      </a:tcTxStyle>
      <a:tcStyle>
        <a:tcBdr/>
        <a:fill>
          <a:solidFill>
            <a:srgbClr val="C3CED5"/>
          </a:solidFill>
        </a:fill>
      </a:tcStyle>
    </a:band2V>
    <a:lastCol>
      <a:tcTxStyle b="off" i="off">
        <a:fontRef idx="minor"/>
        <a:schemeClr val="dk1"/>
      </a:tcTxStyle>
      <a:tcStyle>
        <a:tcBdr/>
        <a:fill>
          <a:noFill/>
        </a:fill>
      </a:tcStyle>
    </a:lastCol>
    <a:firstCol>
      <a:tcTxStyle b="off" i="off">
        <a:fontRef idx="minor"/>
        <a:schemeClr val="dk1"/>
      </a:tcTxStyle>
      <a:tcStyle>
        <a:tcBdr/>
        <a:fill>
          <a:noFill/>
        </a:fill>
      </a:tcStyle>
    </a:firstCol>
    <a:lastRow>
      <a:tcTxStyle b="on" i="off">
        <a:fontRef idx="minor"/>
        <a:schemeClr val="dk1"/>
      </a:tcTxStyle>
      <a:tcStyle>
        <a:tcBdr/>
        <a:fill>
          <a:solidFill>
            <a:srgbClr val="8FA2AC"/>
          </a:solidFill>
        </a:fill>
      </a:tcStyle>
    </a:lastRow>
    <a:firstRow>
      <a:tcTxStyle b="on" i="off">
        <a:fontRef idx="minor"/>
        <a:schemeClr val="dk1"/>
      </a:tcTxStyle>
      <a:tcStyle>
        <a:tcBdr/>
        <a:fill>
          <a:solidFill>
            <a:srgbClr val="8FA2AC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77" autoAdjust="0"/>
  </p:normalViewPr>
  <p:slideViewPr>
    <p:cSldViewPr snapToGrid="0">
      <p:cViewPr varScale="1">
        <p:scale>
          <a:sx n="73" d="100"/>
          <a:sy n="73" d="100"/>
        </p:scale>
        <p:origin x="2076" y="294"/>
      </p:cViewPr>
      <p:guideLst>
        <p:guide orient="horz" pos="731"/>
        <p:guide orient="horz" pos="3838"/>
        <p:guide pos="7469"/>
        <p:guide pos="63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6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B45C9-81B3-4A94-8767-58F068DAE0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3852863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09B46-CBCC-4BDD-A65B-1107FD00F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160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71463" y="44450"/>
            <a:ext cx="6234113" cy="403225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algn="l">
              <a:defRPr sz="1800"/>
            </a:lvl1pPr>
          </a:lstStyle>
          <a:p>
            <a:r>
              <a:rPr lang="en-US"/>
              <a:t>Gaussian Processes</a:t>
            </a: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295611" y="3835400"/>
            <a:ext cx="6224116" cy="350106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1446281" y="9582622"/>
            <a:ext cx="3908288" cy="2308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Insert footer information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273443" y="9582622"/>
            <a:ext cx="209352" cy="230832"/>
          </a:xfrm>
          <a:prstGeom prst="rect">
            <a:avLst/>
          </a:prstGeom>
        </p:spPr>
        <p:txBody>
          <a:bodyPr vert="horz" wrap="none" lIns="91440" tIns="45720" rIns="0" bIns="45720" rtlCol="0" anchor="ctr">
            <a:noAutofit/>
          </a:bodyPr>
          <a:lstStyle>
            <a:lvl1pPr algn="r">
              <a:defRPr sz="900"/>
            </a:lvl1pPr>
          </a:lstStyle>
          <a:p>
            <a:fld id="{C6E303EA-09C3-495B-8565-6524796C22F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Notes Placeholder 5"/>
          <p:cNvSpPr>
            <a:spLocks noGrp="1"/>
          </p:cNvSpPr>
          <p:nvPr>
            <p:ph type="body" sz="quarter" idx="3"/>
          </p:nvPr>
        </p:nvSpPr>
        <p:spPr>
          <a:xfrm>
            <a:off x="271463" y="530225"/>
            <a:ext cx="6234112" cy="30686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"/>
          </p:nvPr>
        </p:nvSpPr>
        <p:spPr>
          <a:xfrm>
            <a:off x="274638" y="9588029"/>
            <a:ext cx="1127125" cy="22542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900"/>
            </a:lvl1pPr>
          </a:lstStyle>
          <a:p>
            <a:fld id="{7305D29C-7523-4ABE-8CB4-FD5FDA2414D8}" type="datetimeFigureOut">
              <a:rPr lang="en-US" noProof="0" smtClean="0"/>
              <a:pPr/>
              <a:t>3/12/2026</a:t>
            </a:fld>
            <a:endParaRPr lang="en-US" noProof="0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274638" y="8781580"/>
            <a:ext cx="6324600" cy="7962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90078" tIns="45039" rIns="90078" bIns="45039" anchor="ctr">
            <a:spAutoFit/>
          </a:bodyPr>
          <a:lstStyle/>
          <a:p>
            <a:pPr defTabSz="900113" eaLnBrk="0" hangingPunct="0">
              <a:lnSpc>
                <a:spcPts val="1088"/>
              </a:lnSpc>
              <a:buFontTx/>
              <a:buChar char="-"/>
            </a:pPr>
            <a:r>
              <a:rPr lang="de-DE" sz="900">
                <a:latin typeface="E+H Serif" pitchFamily="18" charset="0"/>
              </a:rPr>
              <a:t> - - - - - - - - - - - - - - - - - - - - - - - - - - - - - - - - - - - - - - - - - - - - - - - - - - - - - - - - - - - - - - - - - - - - - - - - - - - - - - - - - - - - -</a:t>
            </a: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endParaRPr lang="de-DE" sz="900">
              <a:latin typeface="E+H Serif" pitchFamily="18" charset="0"/>
            </a:endParaRP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r>
              <a:rPr lang="de-DE" sz="900">
                <a:latin typeface="E+H Serif" pitchFamily="18" charset="0"/>
              </a:rPr>
              <a:t> - - - - - - - - - - - - - - - - - - - - - - - - - - - - - - - - - - - - - - - - - - - - - - - - - - - - - - - - - - - - - - - - - - - - - - - - - - - - - - - - - - - - -</a:t>
            </a: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endParaRPr lang="de-DE" sz="900">
              <a:latin typeface="E+H Serif" pitchFamily="18" charset="0"/>
            </a:endParaRPr>
          </a:p>
          <a:p>
            <a:pPr defTabSz="900113" eaLnBrk="0" hangingPunct="0">
              <a:lnSpc>
                <a:spcPts val="1088"/>
              </a:lnSpc>
              <a:buFontTx/>
              <a:buChar char="-"/>
            </a:pPr>
            <a:r>
              <a:rPr lang="de-DE" sz="900">
                <a:latin typeface="E+H Serif" pitchFamily="18" charset="0"/>
              </a:rPr>
              <a:t> - - - - - - - - - - - - - - - - - - - - - - - - - - - - - - - - - - - - - - - - - - - - - - - - - - - - - - - - - - - - - - - - - - - - - - - - - - - - - - - - - - - - -</a:t>
            </a:r>
          </a:p>
        </p:txBody>
      </p:sp>
    </p:spTree>
    <p:extLst>
      <p:ext uri="{BB962C8B-B14F-4D97-AF65-F5344CB8AC3E}">
        <p14:creationId xmlns:p14="http://schemas.microsoft.com/office/powerpoint/2010/main" val="198637867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18" charset="0"/>
        <a:ea typeface="+mn-ea"/>
        <a:cs typeface="+mn-cs"/>
      </a:defRPr>
    </a:lvl1pPr>
    <a:lvl2pPr marL="361950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2pPr>
    <a:lvl3pPr marL="712788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3pPr>
    <a:lvl4pPr marL="1073150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4pPr>
    <a:lvl5pPr marL="1435100" indent="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+H Serif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ML: Learn form data</a:t>
            </a:r>
          </a:p>
          <a:p>
            <a:endParaRPr lang="en-US" dirty="0"/>
          </a:p>
          <a:p>
            <a:r>
              <a:rPr lang="en-US" dirty="0"/>
              <a:t>supervised learning: problem of learning input-output mappings from empirical data (the training dataset).</a:t>
            </a:r>
          </a:p>
          <a:p>
            <a:endParaRPr lang="en-US" dirty="0"/>
          </a:p>
          <a:p>
            <a:r>
              <a:rPr lang="en-US" dirty="0"/>
              <a:t>Regression: continuous output mapping (vs. classification)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952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can happen that the function class is not well suited for my problem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7376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9098-24B0-0C99-B608-6293F65A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2D9ED-8852-312F-C494-EE11A2EFF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89AE0-C8FA-4551-46A6-949BC5EA8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find a </a:t>
            </a:r>
            <a:r>
              <a:rPr lang="en-US" dirty="0" err="1"/>
              <a:t>propability</a:t>
            </a:r>
            <a:r>
              <a:rPr lang="en-US" dirty="0"/>
              <a:t> for these functions?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10B9220-D0F2-547E-D390-1EE06A0DB13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3E0DC-A4DB-6989-C208-7BF49032B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7302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2412-08B5-945D-C066-4FC4A6B4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18E45-1AEB-D270-8F7E-6D594CFFC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140C3-D572-B297-4843-9794078F3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find a </a:t>
            </a:r>
            <a:r>
              <a:rPr lang="en-US" dirty="0" err="1"/>
              <a:t>propability</a:t>
            </a:r>
            <a:r>
              <a:rPr lang="en-US" dirty="0"/>
              <a:t> for these functions?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CBAD95C-4C7D-4C60-670F-58BDA6555BE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DEED-F906-BC68-0AAB-EB345C137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0004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A86C5-DFBA-8EB8-BBED-B9693A2E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C0745-0C51-02E9-27F4-BA5EE54AE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29813-86C9-94C3-95ED-0590FC24E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can happen that the function class is not well suited for my problem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FEB256B-2CBF-E335-4E6D-45584C62264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93247-9B85-C7B7-2155-5FF55A49B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8484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8CCE-679D-59ED-F84E-4BA78DE2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1376B-8F6B-5648-7A2C-029158D9B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0FEFE-9489-A188-F221-CCA8C08C2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A44B33B-6911-ECB9-3B57-912C9418F3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0F8F2-7CDB-A836-7D6B-A7A5125EB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4535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5275" y="3835400"/>
            <a:ext cx="6224588" cy="3500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Gaussian Processes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303EA-09C3-495B-8565-6524796C22FB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1162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Slide" preserve="1" userDrawn="1">
  <p:cSld name="E+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hape">
            <a:extLst>
              <a:ext uri="{FF2B5EF4-FFF2-40B4-BE49-F238E27FC236}">
                <a16:creationId xmlns:a16="http://schemas.microsoft.com/office/drawing/2014/main" id="{198C7814-7571-587E-9D5C-D9CB9EE6DC1D}"/>
              </a:ext>
            </a:extLst>
          </p:cNvPr>
          <p:cNvSpPr>
            <a:spLocks/>
          </p:cNvSpPr>
          <p:nvPr userDrawn="1"/>
        </p:nvSpPr>
        <p:spPr bwMode="gray">
          <a:xfrm>
            <a:off x="334962" y="0"/>
            <a:ext cx="11857038" cy="62640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3"/>
          </p:nvPr>
        </p:nvSpPr>
        <p:spPr bwMode="gray">
          <a:xfrm>
            <a:off x="334963" y="0"/>
            <a:ext cx="11857036" cy="627380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shBlueMargin"/>
          <p:cNvSpPr>
            <a:spLocks noChangeArrowheads="1"/>
          </p:cNvSpPr>
          <p:nvPr userDrawn="1"/>
        </p:nvSpPr>
        <p:spPr bwMode="gray">
          <a:xfrm>
            <a:off x="0" y="0"/>
            <a:ext cx="334963" cy="6273800"/>
          </a:xfrm>
          <a:prstGeom prst="rect">
            <a:avLst/>
          </a:prstGeom>
          <a:solidFill>
            <a:srgbClr val="009EE3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GB" dirty="0">
              <a:latin typeface="E+H Serif" pitchFamily="18" charset="0"/>
            </a:endParaRP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5"/>
          </p:nvPr>
        </p:nvSpPr>
        <p:spPr bwMode="gray">
          <a:xfrm>
            <a:off x="4113339" y="6469380"/>
            <a:ext cx="2012950" cy="180000"/>
          </a:xfrm>
        </p:spPr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 bwMode="gray">
          <a:xfrm>
            <a:off x="1633051" y="6469380"/>
            <a:ext cx="571500" cy="180000"/>
          </a:xfrm>
        </p:spPr>
        <p:txBody>
          <a:bodyPr/>
          <a:lstStyle/>
          <a:p>
            <a:r>
              <a:rPr lang="en-GB"/>
              <a:t>Slide </a:t>
            </a:r>
            <a:fld id="{BCB00A85-F52C-46BB-8364-52CB6792F5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6DDD586B-CBEE-B7D9-8ED6-1E54806A14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34962" y="3215568"/>
            <a:ext cx="11857036" cy="3058231"/>
          </a:xfrm>
          <a:gradFill>
            <a:gsLst>
              <a:gs pos="0">
                <a:schemeClr val="tx1">
                  <a:alpha val="0"/>
                </a:scheme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</p:spPr>
        <p:txBody>
          <a:bodyPr tIns="1152000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">
                <a:noFill/>
              </a:defRPr>
            </a:lvl1pPr>
            <a:lvl2pPr marL="269875" indent="0">
              <a:buNone/>
              <a:defRPr/>
            </a:lvl2pPr>
            <a:lvl3pPr marL="534987" indent="0">
              <a:buNone/>
              <a:defRPr/>
            </a:lvl3pPr>
            <a:lvl4pPr marL="723900" indent="0">
              <a:buNone/>
              <a:defRPr/>
            </a:lvl4pPr>
            <a:lvl5pPr marL="892175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" name="txtTitle"/>
          <p:cNvSpPr>
            <a:spLocks noGrp="1"/>
          </p:cNvSpPr>
          <p:nvPr>
            <p:ph type="ctrTitle"/>
          </p:nvPr>
        </p:nvSpPr>
        <p:spPr bwMode="gray">
          <a:xfrm>
            <a:off x="658964" y="3742482"/>
            <a:ext cx="9351811" cy="143101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rgbClr val="FFFFFF"/>
                </a:solidFill>
                <a:latin typeface="E+H Serif" pitchFamily="18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xtSubtitle"/>
          <p:cNvSpPr>
            <a:spLocks noGrp="1"/>
          </p:cNvSpPr>
          <p:nvPr>
            <p:ph type="subTitle" idx="1"/>
          </p:nvPr>
        </p:nvSpPr>
        <p:spPr bwMode="gray">
          <a:xfrm>
            <a:off x="658963" y="5361113"/>
            <a:ext cx="9351812" cy="563036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6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2000" smtClean="0">
                <a:solidFill>
                  <a:srgbClr val="FFFFFF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8325891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Content" type="obj" preserve="1">
  <p:cSld name="E+H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xt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Confidential Title Slide" preserve="1" userDrawn="1">
  <p:cSld name="E+H Confidenti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hape">
            <a:extLst>
              <a:ext uri="{FF2B5EF4-FFF2-40B4-BE49-F238E27FC236}">
                <a16:creationId xmlns:a16="http://schemas.microsoft.com/office/drawing/2014/main" id="{198C7814-7571-587E-9D5C-D9CB9EE6DC1D}"/>
              </a:ext>
            </a:extLst>
          </p:cNvPr>
          <p:cNvSpPr>
            <a:spLocks/>
          </p:cNvSpPr>
          <p:nvPr userDrawn="1"/>
        </p:nvSpPr>
        <p:spPr bwMode="gray">
          <a:xfrm>
            <a:off x="334962" y="0"/>
            <a:ext cx="11857038" cy="62640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" name="Picture Placeholder"/>
          <p:cNvSpPr>
            <a:spLocks noGrp="1"/>
          </p:cNvSpPr>
          <p:nvPr>
            <p:ph type="pic" sz="quarter" idx="13"/>
          </p:nvPr>
        </p:nvSpPr>
        <p:spPr bwMode="gray">
          <a:xfrm>
            <a:off x="334963" y="1160463"/>
            <a:ext cx="11857037" cy="5103536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shBlueMargin"/>
          <p:cNvSpPr>
            <a:spLocks noChangeArrowheads="1"/>
          </p:cNvSpPr>
          <p:nvPr userDrawn="1"/>
        </p:nvSpPr>
        <p:spPr bwMode="gray">
          <a:xfrm>
            <a:off x="0" y="0"/>
            <a:ext cx="334963" cy="6273800"/>
          </a:xfrm>
          <a:prstGeom prst="rect">
            <a:avLst/>
          </a:prstGeom>
          <a:solidFill>
            <a:srgbClr val="009EE3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GB" dirty="0">
              <a:latin typeface="E+H Serif" pitchFamily="18" charset="0"/>
            </a:endParaRP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5"/>
          </p:nvPr>
        </p:nvSpPr>
        <p:spPr bwMode="gray">
          <a:xfrm>
            <a:off x="4113339" y="6469380"/>
            <a:ext cx="2012950" cy="180000"/>
          </a:xfrm>
        </p:spPr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 bwMode="gray">
          <a:xfrm>
            <a:off x="1633051" y="6469380"/>
            <a:ext cx="571500" cy="180000"/>
          </a:xfrm>
        </p:spPr>
        <p:txBody>
          <a:bodyPr/>
          <a:lstStyle/>
          <a:p>
            <a:r>
              <a:rPr lang="en-GB"/>
              <a:t>Slide </a:t>
            </a:r>
            <a:fld id="{2A88A6D0-5B67-48C8-A247-4AD64DD2E5E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6DDD586B-CBEE-B7D9-8ED6-1E54806A14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34962" y="3215568"/>
            <a:ext cx="11857036" cy="3058231"/>
          </a:xfrm>
          <a:gradFill>
            <a:gsLst>
              <a:gs pos="0">
                <a:schemeClr val="tx1">
                  <a:alpha val="0"/>
                </a:schemeClr>
              </a:gs>
              <a:gs pos="100000">
                <a:srgbClr val="000000">
                  <a:alpha val="65000"/>
                </a:srgbClr>
              </a:gs>
            </a:gsLst>
            <a:lin ang="5400000" scaled="1"/>
          </a:gradFill>
        </p:spPr>
        <p:txBody>
          <a:bodyPr tIns="1152000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">
                <a:noFill/>
              </a:defRPr>
            </a:lvl1pPr>
            <a:lvl2pPr marL="269875" indent="0">
              <a:buNone/>
              <a:defRPr/>
            </a:lvl2pPr>
            <a:lvl3pPr marL="534987" indent="0">
              <a:buNone/>
              <a:defRPr/>
            </a:lvl3pPr>
            <a:lvl4pPr marL="723900" indent="0">
              <a:buNone/>
              <a:defRPr/>
            </a:lvl4pPr>
            <a:lvl5pPr marL="892175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" name="txtTitle"/>
          <p:cNvSpPr>
            <a:spLocks noGrp="1"/>
          </p:cNvSpPr>
          <p:nvPr>
            <p:ph type="ctrTitle"/>
          </p:nvPr>
        </p:nvSpPr>
        <p:spPr bwMode="gray">
          <a:xfrm>
            <a:off x="658964" y="3742482"/>
            <a:ext cx="9351811" cy="143101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rgbClr val="FFFFFF"/>
                </a:solidFill>
                <a:latin typeface="E+H Serif" pitchFamily="18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xtSubtitle"/>
          <p:cNvSpPr>
            <a:spLocks noGrp="1"/>
          </p:cNvSpPr>
          <p:nvPr>
            <p:ph type="subTitle" idx="1"/>
          </p:nvPr>
        </p:nvSpPr>
        <p:spPr bwMode="gray">
          <a:xfrm>
            <a:off x="658963" y="5361113"/>
            <a:ext cx="9351812" cy="563036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06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2000" smtClean="0">
                <a:solidFill>
                  <a:srgbClr val="FFFFFF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5" name="txtConfidentialFrame">
            <a:extLst>
              <a:ext uri="{FF2B5EF4-FFF2-40B4-BE49-F238E27FC236}">
                <a16:creationId xmlns:a16="http://schemas.microsoft.com/office/drawing/2014/main" id="{0579F6DF-7E52-D974-D2AA-4732C26FE49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34960" y="1"/>
            <a:ext cx="11857039" cy="1162967"/>
          </a:xfrm>
          <a:prstGeom prst="rect">
            <a:avLst/>
          </a:prstGeom>
          <a:solidFill>
            <a:srgbClr val="E6ECF0">
              <a:alpha val="89804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180000" tIns="108000" rIns="180000" bIns="108000" numCol="1" anchor="t" anchorCtr="0" compatLnSpc="1">
            <a:prstTxWarp prst="textNoShape">
              <a:avLst/>
            </a:prstTxWarp>
          </a:bodyPr>
          <a:lstStyle>
            <a:lvl1pPr marL="269875" lvl="0" indent="-269875" eaLnBrk="1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1pPr>
            <a:lvl2pPr marL="541338" lvl="1" indent="-271463" eaLnBrk="1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2pPr>
            <a:lvl3pPr marL="717550" lvl="2" indent="-182563" eaLnBrk="1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3pPr>
            <a:lvl4pPr marL="900113" lvl="3" indent="-176213" eaLnBrk="1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4pPr>
            <a:lvl5pPr marL="1074738" lvl="4" indent="-182563" eaLnBrk="1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>
                <a:srgbClr val="007CAA"/>
              </a:buClr>
              <a:buFont typeface="E+H Serif" pitchFamily="18" charset="0"/>
              <a:buChar char="•"/>
              <a:defRPr sz="1800">
                <a:solidFill>
                  <a:srgbClr val="000000"/>
                </a:solidFill>
                <a:latin typeface="E+H Sans" panose="020B0404050202020204" pitchFamily="34" charset="0"/>
              </a:defRPr>
            </a:lvl5pPr>
            <a:lvl6pPr marL="22526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6pPr>
            <a:lvl7pPr marL="27098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7pPr>
            <a:lvl8pPr marL="31670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8pPr>
            <a:lvl9pPr marL="3624263" indent="-179388" fontAlgn="base">
              <a:lnSpc>
                <a:spcPct val="110000"/>
              </a:lnSpc>
              <a:spcBef>
                <a:spcPct val="9000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Char char="n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en-GB" sz="1400"/>
              <a:t>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8997790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ection Header" preserve="1" userDrawn="1">
  <p:cSld name="E+H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hape">
            <a:extLst>
              <a:ext uri="{FF2B5EF4-FFF2-40B4-BE49-F238E27FC236}">
                <a16:creationId xmlns:a16="http://schemas.microsoft.com/office/drawing/2014/main" id="{A6106845-A46B-32A4-8AC4-BA3A274EC093}"/>
              </a:ext>
            </a:extLst>
          </p:cNvPr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34965" y="2703134"/>
            <a:ext cx="5616000" cy="1321259"/>
          </a:xfrm>
        </p:spPr>
        <p:txBody>
          <a:bodyPr wrap="square" anchor="b">
            <a:spAutoFit/>
          </a:bodyPr>
          <a:lstStyle>
            <a:lvl1pPr>
              <a:lnSpc>
                <a:spcPct val="11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34964" y="4276734"/>
            <a:ext cx="5616000" cy="276999"/>
          </a:xfrm>
        </p:spPr>
        <p:txBody>
          <a:bodyPr lIns="0" tIns="0" numCol="1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/>
            </a:lvl1pPr>
            <a:lvl2pPr marL="269875" indent="0">
              <a:lnSpc>
                <a:spcPct val="100000"/>
              </a:lnSpc>
              <a:spcAft>
                <a:spcPts val="0"/>
              </a:spcAft>
              <a:buNone/>
              <a:defRPr sz="1800"/>
            </a:lvl2pPr>
            <a:lvl3pPr marL="534987" indent="0">
              <a:lnSpc>
                <a:spcPct val="100000"/>
              </a:lnSpc>
              <a:spcAft>
                <a:spcPts val="0"/>
              </a:spcAft>
              <a:buNone/>
              <a:defRPr sz="1800"/>
            </a:lvl3pPr>
            <a:lvl4pPr marL="723900" indent="0">
              <a:lnSpc>
                <a:spcPct val="100000"/>
              </a:lnSpc>
              <a:spcAft>
                <a:spcPts val="0"/>
              </a:spcAft>
              <a:buNone/>
              <a:defRPr sz="1800"/>
            </a:lvl4pPr>
            <a:lvl5pPr marL="892175" indent="0">
              <a:lnSpc>
                <a:spcPct val="100000"/>
              </a:lnSpc>
              <a:spcAft>
                <a:spcPts val="0"/>
              </a:spcAft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6252000" y="476250"/>
            <a:ext cx="5940000" cy="579755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0B0CC-A95E-AB23-E78B-5624B304EB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113339" y="6469380"/>
            <a:ext cx="2012950" cy="180000"/>
          </a:xfrm>
        </p:spPr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5F711-B661-B335-193D-A0CFA3CE2A1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633051" y="6469380"/>
            <a:ext cx="571500" cy="180000"/>
          </a:xfrm>
        </p:spPr>
        <p:txBody>
          <a:bodyPr/>
          <a:lstStyle/>
          <a:p>
            <a:r>
              <a:rPr lang="en-GB"/>
              <a:t>Slide </a:t>
            </a:r>
            <a:fld id="{92BD5C3D-B3BE-4222-B97C-28A279570D0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24C5ECC-F474-AC51-9F64-5084EA6B4365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</p:spTree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" preserve="1" userDrawn="1">
  <p:cSld name="E+H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0" y="1160462"/>
            <a:ext cx="12192000" cy="5113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306AC559-15AC-4F9A-B5C8-A13E6B9C958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0AAD1A-99DE-BED9-D2E3-ADF49313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541475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Legend" preserve="1" userDrawn="1">
  <p:cSld name="E+H Image Slide with 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-1" y="1160461"/>
            <a:ext cx="12192000" cy="44640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-1" y="1160461"/>
            <a:ext cx="12192000" cy="446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AF40549A-1A4B-473D-8E4E-7CB75E9497C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334962" y="5746376"/>
            <a:ext cx="11531599" cy="346448"/>
          </a:xfrm>
        </p:spPr>
        <p:txBody>
          <a:bodyPr wrap="none"/>
          <a:lstStyle>
            <a:lvl1pPr marL="0" indent="0">
              <a:buNone/>
              <a:defRPr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3F7183-8106-583A-E714-E13CC0F8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42478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Presentation Title" preserve="1" userDrawn="1">
  <p:cSld name="E+H Image Slide with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0" y="476250"/>
            <a:ext cx="12192000" cy="579754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0EC039B7-B273-45AE-830A-8FF0E5813C4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002821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Full-Image Slide" preserve="1" userDrawn="1">
  <p:cSld name="E+H Full-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-1" y="-1"/>
            <a:ext cx="12192000" cy="6273800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62738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4019FF28-CFD3-450D-8E73-E1A78490488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799543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Textbox right" preserve="1" userDrawn="1">
  <p:cSld name="E+H Image Slide with Text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 bwMode="gray">
          <a:xfrm>
            <a:off x="0" y="1160464"/>
            <a:ext cx="12192000" cy="5113336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gray">
          <a:xfrm>
            <a:off x="1" y="1160464"/>
            <a:ext cx="12192000" cy="5113336"/>
          </a:xfrm>
        </p:spPr>
        <p:txBody>
          <a:bodyPr rIns="5040000" bIns="0"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GB"/>
              <a:t>Slide </a:t>
            </a:r>
            <a:fld id="{F0F4B60A-ED49-40BD-8274-E19BD23A37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F34E1B-AD6D-3445-BC1E-E5AFFB2E1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6257925" y="1490694"/>
            <a:ext cx="5610224" cy="3622213"/>
          </a:xfrm>
          <a:solidFill>
            <a:srgbClr val="FFFFFF"/>
          </a:solidFill>
        </p:spPr>
        <p:txBody>
          <a:bodyPr lIns="180000" tIns="108000" rIns="180000" bIns="108000" anchor="t"/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94EB4C-A660-5C8F-3D23-203CF3389D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154646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Slide with Textbox left" preserve="1" userDrawn="1">
  <p:cSld name="E+H Image Slide with Text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 bwMode="gray">
          <a:xfrm>
            <a:off x="0" y="1160464"/>
            <a:ext cx="12192000" cy="5113336"/>
          </a:xfrm>
          <a:prstGeom prst="rect">
            <a:avLst/>
          </a:prstGeom>
          <a:solidFill>
            <a:srgbClr val="C3C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gray">
          <a:xfrm>
            <a:off x="0" y="1160464"/>
            <a:ext cx="12192000" cy="5113336"/>
          </a:xfrm>
        </p:spPr>
        <p:txBody>
          <a:bodyPr lIns="5040000" bIns="0"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GB"/>
              <a:t>Slide </a:t>
            </a:r>
            <a:fld id="{094A6EB0-560F-49F2-9604-BDDEC2B840A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F34E1B-AD6D-3445-BC1E-E5AFFB2E1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334963" y="1490693"/>
            <a:ext cx="5610224" cy="3622213"/>
          </a:xfrm>
          <a:solidFill>
            <a:srgbClr val="FFFFFF"/>
          </a:solidFill>
        </p:spPr>
        <p:txBody>
          <a:bodyPr lIns="180000" tIns="108000" rIns="180000" bIns="108000" anchor="t"/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68AE0A-861F-9829-2A3B-24C0FB7A0B1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330658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Bullet" preserve="1" userDrawn="1">
  <p:cSld name="E+H 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Slide </a:t>
            </a:r>
            <a:fld id="{2786573A-0DE4-4643-A8BC-88CFA3C586E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34962" y="1164474"/>
            <a:ext cx="9674225" cy="492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Text" preserve="1" userDrawn="1">
  <p:cSld name="E+H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xtContent"/>
          <p:cNvSpPr>
            <a:spLocks noGrp="1"/>
          </p:cNvSpPr>
          <p:nvPr>
            <p:ph type="body" sz="quarter" idx="13"/>
          </p:nvPr>
        </p:nvSpPr>
        <p:spPr>
          <a:xfrm>
            <a:off x="334962" y="1164474"/>
            <a:ext cx="9674225" cy="4928351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60363" indent="3175">
              <a:buFontTx/>
              <a:buNone/>
              <a:defRPr/>
            </a:lvl2pPr>
            <a:lvl3pPr marL="714375" indent="3175">
              <a:buFontTx/>
              <a:buNone/>
              <a:defRPr/>
            </a:lvl3pPr>
            <a:lvl4pPr marL="1074738" indent="0">
              <a:buFontTx/>
              <a:buNone/>
              <a:tabLst/>
              <a:defRPr/>
            </a:lvl4pPr>
            <a:lvl5pPr marL="1436688" indent="-3175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Slide </a:t>
            </a:r>
            <a:fld id="{64313158-B7A6-4F44-A69F-5275E0F037C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18E22C-1288-764D-1EB4-07225FF46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wo Bullet" preserve="1" userDrawn="1">
  <p:cSld name="E+H Two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9" name="txtContent"/>
          <p:cNvSpPr>
            <a:spLocks noGrp="1"/>
          </p:cNvSpPr>
          <p:nvPr>
            <p:ph type="body" sz="quarter" idx="13"/>
          </p:nvPr>
        </p:nvSpPr>
        <p:spPr>
          <a:xfrm>
            <a:off x="334963" y="1164474"/>
            <a:ext cx="5616000" cy="492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txtContent2"/>
          <p:cNvSpPr>
            <a:spLocks noGrp="1"/>
          </p:cNvSpPr>
          <p:nvPr>
            <p:ph type="body" sz="quarter" idx="14"/>
          </p:nvPr>
        </p:nvSpPr>
        <p:spPr>
          <a:xfrm>
            <a:off x="6241037" y="1164474"/>
            <a:ext cx="5616000" cy="492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Slide </a:t>
            </a:r>
            <a:fld id="{B137EC67-EA8C-4D9E-84F6-6F0D7C6F5C8F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wo Text" preserve="1" userDrawn="1">
  <p:cSld name="E+H Tw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9" name="txtContent"/>
          <p:cNvSpPr>
            <a:spLocks noGrp="1"/>
          </p:cNvSpPr>
          <p:nvPr>
            <p:ph type="body" sz="quarter" idx="13"/>
          </p:nvPr>
        </p:nvSpPr>
        <p:spPr>
          <a:xfrm>
            <a:off x="334963" y="1164474"/>
            <a:ext cx="5616000" cy="4928351"/>
          </a:xfrm>
        </p:spPr>
        <p:txBody>
          <a:bodyPr/>
          <a:lstStyle>
            <a:lvl1pPr marL="0" indent="0">
              <a:buNone/>
              <a:defRPr/>
            </a:lvl1pPr>
            <a:lvl2pPr marL="360363" indent="3175">
              <a:buNone/>
              <a:defRPr/>
            </a:lvl2pPr>
            <a:lvl3pPr marL="714375" indent="3175">
              <a:buNone/>
              <a:defRPr/>
            </a:lvl3pPr>
            <a:lvl4pPr marL="1076325" indent="4763">
              <a:buNone/>
              <a:defRPr/>
            </a:lvl4pPr>
            <a:lvl5pPr marL="1436688" indent="-3175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txtContent2"/>
          <p:cNvSpPr>
            <a:spLocks noGrp="1"/>
          </p:cNvSpPr>
          <p:nvPr>
            <p:ph type="body" sz="quarter" idx="14"/>
          </p:nvPr>
        </p:nvSpPr>
        <p:spPr>
          <a:xfrm>
            <a:off x="6241037" y="1164474"/>
            <a:ext cx="5616000" cy="4928351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60363" indent="3175">
              <a:buFontTx/>
              <a:buNone/>
              <a:defRPr/>
            </a:lvl2pPr>
            <a:lvl3pPr marL="714375" indent="3175">
              <a:buFontTx/>
              <a:buNone/>
              <a:defRPr/>
            </a:lvl3pPr>
            <a:lvl4pPr marL="1076325" indent="-1588">
              <a:buFontTx/>
              <a:buNone/>
              <a:defRPr/>
            </a:lvl4pPr>
            <a:lvl5pPr marL="1436688" indent="-3175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Slide </a:t>
            </a:r>
            <a:fld id="{3A327BA0-6318-4CCA-A281-9182E1366B19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wo Content" preserve="1" userDrawn="1">
  <p:cSld name="E+H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34963" y="1164474"/>
            <a:ext cx="5616000" cy="492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14"/>
          </p:nvPr>
        </p:nvSpPr>
        <p:spPr>
          <a:xfrm>
            <a:off x="6241037" y="1164474"/>
            <a:ext cx="5616000" cy="492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Slide </a:t>
            </a:r>
            <a:fld id="{D5D28510-8F3A-40EC-B4B2-9F4520EA3F7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Image and Content" preserve="1" userDrawn="1">
  <p:cSld name="E+H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xtContent"/>
          <p:cNvSpPr>
            <a:spLocks noGrp="1"/>
          </p:cNvSpPr>
          <p:nvPr>
            <p:ph idx="1"/>
          </p:nvPr>
        </p:nvSpPr>
        <p:spPr>
          <a:xfrm>
            <a:off x="6241037" y="1164474"/>
            <a:ext cx="5616000" cy="49283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BBBDBAD8-42DE-4B45-BACC-E7CE8868A9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B28E9016-A8C4-CD79-F407-4696103FFF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164474"/>
            <a:ext cx="5939999" cy="510921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88039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Only" type="titleOnly" preserve="1">
  <p:cSld name="E+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BCFC8B0-859F-4074-BA4D-1A3BAAEAB3A6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Blank" type="blank" preserve="1">
  <p:cSld name="E+H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PresentationTitl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E+H Serif" pitchFamily="18" charset="0"/>
              </a:defRPr>
            </a:lvl1pPr>
          </a:lstStyle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02C5E81D-1256-4E39-9E64-BE4C88630945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Key Message" preserve="1" userDrawn="1">
  <p:cSld name="E+H Title and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21DDC95D-45EC-4566-9AEE-529F1790B12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717946"/>
            <a:ext cx="9674224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big headline and use </a:t>
            </a:r>
            <a:br>
              <a:rPr lang="en-GB" dirty="0"/>
            </a:br>
            <a:r>
              <a:rPr lang="en-GB" dirty="0"/>
              <a:t>bold and magenta 2 to highlight text</a:t>
            </a:r>
            <a:br>
              <a:rPr lang="en-GB" dirty="0"/>
            </a:br>
            <a:r>
              <a:rPr lang="en-GB" dirty="0"/>
              <a:t>Max. 3 lines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6AF5B-93C0-C940-D443-2B90F684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080308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and Presentation Title" preserve="1" userDrawn="1">
  <p:cSld name="E+H Key Message and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FDD6A677-A9C7-41B3-9BA7-AF5B596D2DF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375840"/>
            <a:ext cx="9674224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big headline and use </a:t>
            </a:r>
            <a:br>
              <a:rPr lang="en-GB" dirty="0"/>
            </a:br>
            <a:r>
              <a:rPr lang="en-GB" dirty="0"/>
              <a:t>bold and magenta 2 to highlight text</a:t>
            </a:r>
            <a:br>
              <a:rPr lang="en-GB" dirty="0"/>
            </a:br>
            <a:r>
              <a:rPr lang="en-GB" dirty="0"/>
              <a:t>Max. 3 lines</a:t>
            </a:r>
          </a:p>
        </p:txBody>
      </p:sp>
    </p:spTree>
    <p:extLst>
      <p:ext uri="{BB962C8B-B14F-4D97-AF65-F5344CB8AC3E}">
        <p14:creationId xmlns:p14="http://schemas.microsoft.com/office/powerpoint/2010/main" val="344985903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Only" preserve="1" userDrawn="1">
  <p:cSld name="E+H Key Mess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0"/>
            <a:ext cx="12192000" cy="627379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4CB68CBF-FE24-401A-BC0E-3F95B0F0A7A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137715"/>
            <a:ext cx="9674224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add big headline and use </a:t>
            </a:r>
            <a:br>
              <a:rPr lang="en-GB" dirty="0"/>
            </a:br>
            <a:r>
              <a:rPr lang="en-GB" dirty="0"/>
              <a:t>bold and magenta 2 to highlight text</a:t>
            </a:r>
            <a:br>
              <a:rPr lang="en-GB" dirty="0"/>
            </a:br>
            <a:r>
              <a:rPr lang="en-GB" dirty="0"/>
              <a:t>Max. 3 lines</a:t>
            </a:r>
          </a:p>
        </p:txBody>
      </p:sp>
    </p:spTree>
    <p:extLst>
      <p:ext uri="{BB962C8B-B14F-4D97-AF65-F5344CB8AC3E}">
        <p14:creationId xmlns:p14="http://schemas.microsoft.com/office/powerpoint/2010/main" val="241205615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itle and Key Message with Image" preserve="1" userDrawn="1">
  <p:cSld name="E+H Title and 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13AE83D1-9515-469F-94F4-E7947C0845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717946"/>
            <a:ext cx="5616000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big headline and use </a:t>
            </a:r>
            <a:br>
              <a:rPr lang="en-GB" dirty="0"/>
            </a:br>
            <a:r>
              <a:rPr lang="en-GB" dirty="0"/>
              <a:t>bold and magenta 2 to </a:t>
            </a:r>
            <a:br>
              <a:rPr lang="en-GB" dirty="0"/>
            </a:br>
            <a:r>
              <a:rPr lang="en-GB" dirty="0"/>
              <a:t>highlight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6AF5B-93C0-C940-D443-2B90F684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15419148-7595-E954-B772-51FA9905EB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2000" y="1160462"/>
            <a:ext cx="5940000" cy="5113337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4204192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and Presentation Title with Image" preserve="1" userDrawn="1">
  <p:cSld name="E+H Key Message and Presentation 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476250"/>
            <a:ext cx="12192000" cy="579754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DBD634CD-4B7B-4057-89B8-45EF75D2A4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375840"/>
            <a:ext cx="5616000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big headline and use </a:t>
            </a:r>
            <a:br>
              <a:rPr lang="en-GB" dirty="0"/>
            </a:br>
            <a:r>
              <a:rPr lang="en-GB" dirty="0"/>
              <a:t>bold and magenta 2 to </a:t>
            </a:r>
            <a:br>
              <a:rPr lang="en-GB" dirty="0"/>
            </a:br>
            <a:r>
              <a:rPr lang="en-GB" dirty="0"/>
              <a:t>highlight text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138A463F-BD68-4CBB-95FA-90342D714A0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2000" y="476250"/>
            <a:ext cx="5940000" cy="579755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22573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Key Message with Image" preserve="1" userDrawn="1">
  <p:cSld name="E+H Key Mess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0"/>
            <a:ext cx="12192000" cy="6273799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F8B58E27-A508-4E6E-B54D-3C7F94325A1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xtSubtitle">
            <a:extLst>
              <a:ext uri="{FF2B5EF4-FFF2-40B4-BE49-F238E27FC236}">
                <a16:creationId xmlns:a16="http://schemas.microsoft.com/office/drawing/2014/main" id="{F93BAA17-470B-06A6-5BA5-1A1977B330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2137715"/>
            <a:ext cx="5616000" cy="199836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rgbClr val="0088FF"/>
              </a:buClr>
              <a:buFont typeface="Wingdings" pitchFamily="2" charset="2"/>
              <a:buNone/>
              <a:defRPr lang="en-US" sz="4000" smtClean="0">
                <a:solidFill>
                  <a:srgbClr val="000000"/>
                </a:solidFill>
                <a:latin typeface="E+H Serif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big headline and use </a:t>
            </a:r>
            <a:br>
              <a:rPr lang="en-GB" dirty="0"/>
            </a:br>
            <a:r>
              <a:rPr lang="en-GB" dirty="0"/>
              <a:t>bold and magenta 2 to </a:t>
            </a:r>
            <a:br>
              <a:rPr lang="en-GB" dirty="0"/>
            </a:br>
            <a:r>
              <a:rPr lang="en-GB" dirty="0"/>
              <a:t>highlight text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FF150D8E-0548-E10C-6F34-5141FFE9B4D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2000" y="0"/>
            <a:ext cx="5940000" cy="627380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635398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Empty Stage" preserve="1" userDrawn="1">
  <p:cSld name="E+H Empty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AAE3A0C0-F5D6-441D-A48A-B005F7CFD06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395103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2 Images" preserve="1" userDrawn="1">
  <p:cSld name="E+H Stage with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30311B5-5C9A-4AF1-8C62-06341C9BB2E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5580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9197" y="1502992"/>
            <a:ext cx="5580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59" y="5656389"/>
            <a:ext cx="5580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79197" y="5656389"/>
            <a:ext cx="5580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3470629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3 Images" preserve="1" userDrawn="1">
  <p:cSld name="E+H Stage with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FFC156E-9C42-405C-80CD-9755B1A7C9E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2" y="1502993"/>
            <a:ext cx="3636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8000" y="1502992"/>
            <a:ext cx="3636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5656389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7999" y="5656389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21038" y="1502992"/>
            <a:ext cx="36360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1037" y="5656389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9403733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4 Images" preserve="1" userDrawn="1">
  <p:cSld name="E+H Stage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A659DCDC-7363-4DDB-A755-2A4E1E40209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96055" y="1502992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96055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7146" y="1502992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57146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1A84B836-5CE7-5EE0-CDF2-A107C93FA03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18238" y="1502992"/>
            <a:ext cx="2638800" cy="4140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0F41D30-0941-52E1-A218-4E816B9502A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18238" y="5656389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0613203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4 Images and 4 Textboxes" preserve="1" userDrawn="1">
  <p:cSld name="E+H Stage with 4 Images and 4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839E3B-9FC7-E7E5-CF82-FC84A8E772A7}"/>
              </a:ext>
            </a:extLst>
          </p:cNvPr>
          <p:cNvSpPr>
            <a:spLocks/>
          </p:cNvSpPr>
          <p:nvPr userDrawn="1"/>
        </p:nvSpPr>
        <p:spPr>
          <a:xfrm>
            <a:off x="334961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043ACB-5E31-E85D-848F-DF3E9588B98C}"/>
              </a:ext>
            </a:extLst>
          </p:cNvPr>
          <p:cNvSpPr>
            <a:spLocks/>
          </p:cNvSpPr>
          <p:nvPr userDrawn="1"/>
        </p:nvSpPr>
        <p:spPr>
          <a:xfrm>
            <a:off x="9218238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9D9A2-BB40-F9AC-29E3-24515EBE9480}"/>
              </a:ext>
            </a:extLst>
          </p:cNvPr>
          <p:cNvSpPr>
            <a:spLocks/>
          </p:cNvSpPr>
          <p:nvPr userDrawn="1"/>
        </p:nvSpPr>
        <p:spPr>
          <a:xfrm>
            <a:off x="6257146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4913A3-A7F3-80D8-AFF9-AA0EBA99C35C}"/>
              </a:ext>
            </a:extLst>
          </p:cNvPr>
          <p:cNvSpPr>
            <a:spLocks/>
          </p:cNvSpPr>
          <p:nvPr userDrawn="1"/>
        </p:nvSpPr>
        <p:spPr>
          <a:xfrm>
            <a:off x="3296055" y="3269456"/>
            <a:ext cx="2638800" cy="26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F0DC335D-A44E-4873-BB17-862DC324FD3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96055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7146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1A84B836-5CE7-5EE0-CDF2-A107C93FA03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18238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97B0522E-A4C6-13E7-023D-EF9BE275BD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4961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>
                <a:latin typeface="+mn-lt"/>
              </a:defRPr>
            </a:lvl3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75E8FCE-4029-B345-4006-191F49E6044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96055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B7D13C8-34EB-0FF4-4D7A-272D619173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96055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/>
            </a:lvl3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0EBB08D-993B-007A-6A37-6589A1F993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57146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A31B30C-1A02-5B20-61D6-8790A9864F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57146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>
                <a:latin typeface="+mn-lt"/>
              </a:defRPr>
            </a:lvl3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9A9520D-2ED1-8F53-E749-CB65E4E2373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8238" y="3269457"/>
            <a:ext cx="2638800" cy="431131"/>
          </a:xfrm>
        </p:spPr>
        <p:txBody>
          <a:bodyPr wrap="square" lIns="108000" tIns="108000" rIns="108000" b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E92F566-3848-CC23-CAC6-F48269BC155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18238" y="3705225"/>
            <a:ext cx="2638800" cy="2209803"/>
          </a:xfrm>
        </p:spPr>
        <p:txBody>
          <a:bodyPr wrap="square" lIns="108000" tIns="36000" rIns="108000" bIns="108000">
            <a:noAutofit/>
          </a:bodyPr>
          <a:lstStyle>
            <a:lvl1pPr marL="234000" indent="-234000">
              <a:spcAft>
                <a:spcPts val="0"/>
              </a:spcAft>
              <a:buFont typeface="E+H Sans" panose="020B0404050202020204" pitchFamily="34" charset="0"/>
              <a:buChar char="•"/>
              <a:defRPr sz="1600">
                <a:latin typeface="+mn-lt"/>
              </a:defRPr>
            </a:lvl1pPr>
            <a:lvl2pPr marL="468000" indent="-234000">
              <a:spcAft>
                <a:spcPts val="0"/>
              </a:spcAft>
              <a:defRPr sz="1600">
                <a:latin typeface="+mn-lt"/>
              </a:defRPr>
            </a:lvl2pPr>
            <a:lvl3pPr marL="702000" indent="-234000">
              <a:spcAft>
                <a:spcPts val="0"/>
              </a:spcAft>
              <a:defRPr>
                <a:latin typeface="+mn-lt"/>
              </a:defRPr>
            </a:lvl3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795805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6 Images" preserve="1" userDrawn="1">
  <p:cSld name="E+H Stage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BD1587B-7D17-45AE-AB62-BEE0E9D1AB8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8001" y="150299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327566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8001" y="327566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21038" y="150299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1038" y="327566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161E03FE-7D98-7D56-E8D3-D80F4260384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4964" y="3885403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BB286F25-5959-7B81-F3AF-490F13BA8E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78001" y="388540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26CAA86-CAC2-70D1-6841-4F23F7146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4961" y="565807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BBE7BD6-C0B3-5D34-C248-1645E9386F7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78001" y="565807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2" name="Picture Placeholder">
            <a:extLst>
              <a:ext uri="{FF2B5EF4-FFF2-40B4-BE49-F238E27FC236}">
                <a16:creationId xmlns:a16="http://schemas.microsoft.com/office/drawing/2014/main" id="{5BC1B288-E49B-7C1D-698C-50A1C95D2E6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221038" y="3885402"/>
            <a:ext cx="36360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A1A70B9-D6E7-2189-A687-1E141C5DBDF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221038" y="5658070"/>
            <a:ext cx="36360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2698691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8 Images" preserve="1" userDrawn="1">
  <p:cSld name="E+H Stage with 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72D027F5-2931-4D91-B094-48D33FA60A4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691B02A-543E-3EA3-7210-40626B83F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4964" y="1502993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0D8F85E9-C5C0-7E53-18E3-FEDEBA392F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96055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EF7C7C-5696-D848-FAC0-DFCB849193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4961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25A73A-0313-5BE9-D609-F046732591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96055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FB934382-ACF8-C2F7-5D8A-613F01EF61C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57146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E17DCE-F494-124D-F468-5ACB2EDAFB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57146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8" name="Picture Placeholder">
            <a:extLst>
              <a:ext uri="{FF2B5EF4-FFF2-40B4-BE49-F238E27FC236}">
                <a16:creationId xmlns:a16="http://schemas.microsoft.com/office/drawing/2014/main" id="{161E03FE-7D98-7D56-E8D3-D80F4260384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18238" y="150299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BB286F25-5959-7B81-F3AF-490F13BA8E0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4964" y="3885403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26CAA86-CAC2-70D1-6841-4F23F7146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4961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BBE7BD6-C0B3-5D34-C248-1645E9386F7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96055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22" name="Picture Placeholder">
            <a:extLst>
              <a:ext uri="{FF2B5EF4-FFF2-40B4-BE49-F238E27FC236}">
                <a16:creationId xmlns:a16="http://schemas.microsoft.com/office/drawing/2014/main" id="{5BC1B288-E49B-7C1D-698C-50A1C95D2E6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296055" y="388540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A1A70B9-D6E7-2189-A687-1E141C5DBDF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57146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BDC3326-151B-B693-C80B-4A7589D233E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57146" y="388540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785B19B-EFC0-6FE3-0122-0ABFB576EE4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218238" y="327566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06C76ECF-E56C-66E8-CAFA-1D7314A0FD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218238" y="3885402"/>
            <a:ext cx="2638800" cy="1764000"/>
          </a:xfrm>
        </p:spPr>
        <p:txBody>
          <a:bodyPr tIns="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1B2F49D-2D6B-425F-280C-DE1881D04B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18238" y="5658070"/>
            <a:ext cx="2638800" cy="257699"/>
          </a:xfrm>
        </p:spPr>
        <p:txBody>
          <a:bodyPr wrap="none">
            <a:noAutofit/>
          </a:bodyPr>
          <a:lstStyle>
            <a:lvl1pPr marL="0" indent="0">
              <a:buNone/>
              <a:defRPr sz="1600">
                <a:latin typeface="E+H Sans" panose="020B040405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43434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White Box" preserve="1" userDrawn="1">
  <p:cSld name="E+H Stage with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 bwMode="gray"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GB"/>
              <a:t>Slide </a:t>
            </a:r>
            <a:fld id="{DEDBDA18-F92F-44D6-BD7E-33DCA52F8A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6AF5B-93C0-C940-D443-2B90F684576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1C01410-A5BA-CF3A-E826-3B17940E2E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334963" y="1490693"/>
            <a:ext cx="5610224" cy="3622213"/>
          </a:xfrm>
          <a:solidFill>
            <a:srgbClr val="FFFFFF"/>
          </a:solidFill>
        </p:spPr>
        <p:txBody>
          <a:bodyPr lIns="180000" tIns="108000" rIns="180000" bIns="108000" anchor="t"/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22BA937-14E2-3ABE-CF13-CF35BDA68E6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 bwMode="gray">
          <a:xfrm>
            <a:off x="6241037" y="1490693"/>
            <a:ext cx="5616000" cy="4450389"/>
          </a:xfrm>
        </p:spPr>
        <p:txBody>
          <a:bodyPr anchor="ctr"/>
          <a:lstStyle>
            <a:lvl1pPr marL="0" indent="0" algn="ctr">
              <a:buNone/>
              <a:defRPr/>
            </a:lvl1pPr>
            <a:lvl2pPr marL="269875" indent="0" algn="ctr">
              <a:buNone/>
              <a:defRPr/>
            </a:lvl2pPr>
            <a:lvl3pPr marL="534987" indent="0" algn="ctr">
              <a:buNone/>
              <a:defRPr/>
            </a:lvl3pPr>
            <a:lvl4pPr marL="723900" indent="0" algn="ctr">
              <a:buNone/>
              <a:defRPr/>
            </a:lvl4pPr>
            <a:lvl5pPr marL="892175" indent="0" algn="ctr">
              <a:buNone/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7CAA"/>
              </a:buClr>
              <a:buSzTx/>
              <a:buFont typeface="E+H Serif" pitchFamily="18" charset="0"/>
              <a:buNone/>
              <a:tabLst/>
              <a:defRPr/>
            </a:pPr>
            <a:r>
              <a:rPr lang="en-GB" dirty="0"/>
              <a:t>Add picture with</a:t>
            </a:r>
            <a:br>
              <a:rPr lang="en-GB" dirty="0"/>
            </a:br>
            <a:r>
              <a:rPr lang="en-GB" dirty="0"/>
              <a:t>transparent background, </a:t>
            </a:r>
            <a:br>
              <a:rPr lang="en-GB" dirty="0"/>
            </a:br>
            <a:r>
              <a:rPr lang="en-GB" dirty="0"/>
              <a:t>screenshot or document preview</a:t>
            </a:r>
          </a:p>
        </p:txBody>
      </p:sp>
    </p:spTree>
    <p:extLst>
      <p:ext uri="{BB962C8B-B14F-4D97-AF65-F5344CB8AC3E}">
        <p14:creationId xmlns:p14="http://schemas.microsoft.com/office/powerpoint/2010/main" val="3307918987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Stage with Chart" preserve="1" userDrawn="1">
  <p:cSld name="E+H Stag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hape"/>
          <p:cNvSpPr>
            <a:spLocks/>
          </p:cNvSpPr>
          <p:nvPr userDrawn="1"/>
        </p:nvSpPr>
        <p:spPr>
          <a:xfrm>
            <a:off x="0" y="1160462"/>
            <a:ext cx="12192000" cy="5113337"/>
          </a:xfrm>
          <a:prstGeom prst="rect">
            <a:avLst/>
          </a:prstGeom>
          <a:solidFill>
            <a:srgbClr val="E6E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BDD1D7-5A4E-285D-6526-5002B8D1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46E9D7-A920-F980-044E-46AACF6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EC535DF-6AC6-A024-99AE-F83851F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AD2232-BF99-C7D5-39B5-5F4771F7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A12D0D78-42D8-43E2-A24C-451EB151027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EA37C23-D906-56FE-12A5-E0ABC7FF87C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34962" y="1352638"/>
            <a:ext cx="9674225" cy="47401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715124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+H Table of Contents" preserve="1" userDrawn="1">
  <p:cSld name="E+H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Title"/>
          <p:cNvSpPr>
            <a:spLocks noGrp="1"/>
          </p:cNvSpPr>
          <p:nvPr>
            <p:ph type="title" hasCustomPrompt="1"/>
          </p:nvPr>
        </p:nvSpPr>
        <p:spPr>
          <a:xfrm>
            <a:off x="334964" y="620690"/>
            <a:ext cx="5605038" cy="360041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agenda slide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>
          <a:xfrm>
            <a:off x="334964" y="194736"/>
            <a:ext cx="5616000" cy="180000"/>
          </a:xfrm>
        </p:spPr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Slide </a:t>
            </a:r>
            <a:fld id="{8CFBF621-CD55-4BB9-9595-213D466F3D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3ECE0A0B-4A7A-078B-695B-C42957163F2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2001" y="0"/>
            <a:ext cx="5939999" cy="6273800"/>
          </a:xfrm>
        </p:spPr>
        <p:txBody>
          <a:bodyPr tIns="684000" anchor="ctr"/>
          <a:lstStyle>
            <a:lvl1pPr marL="0" indent="0" algn="ctr">
              <a:buFontTx/>
              <a:buNone/>
              <a:defRPr>
                <a:latin typeface="E+H Serif" pitchFamily="18" charset="0"/>
              </a:defRPr>
            </a:lvl1pPr>
          </a:lstStyle>
          <a:p>
            <a:r>
              <a:rPr lang="en-GB" dirty="0"/>
              <a:t>Optional picture</a:t>
            </a:r>
          </a:p>
        </p:txBody>
      </p:sp>
    </p:spTree>
    <p:extLst>
      <p:ext uri="{BB962C8B-B14F-4D97-AF65-F5344CB8AC3E}">
        <p14:creationId xmlns:p14="http://schemas.microsoft.com/office/powerpoint/2010/main" val="3028183380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xtTitle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620690"/>
            <a:ext cx="11522075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dirty="0"/>
          </a:p>
        </p:txBody>
      </p:sp>
      <p:sp>
        <p:nvSpPr>
          <p:cNvPr id="1027" name="txtContent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2" y="1164474"/>
            <a:ext cx="9674225" cy="492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Textmasterformate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Ebene</a:t>
            </a:r>
          </a:p>
          <a:p>
            <a:pPr lvl="2"/>
            <a:r>
              <a:rPr lang="en-GB" dirty="0" err="1"/>
              <a:t>Dritte</a:t>
            </a:r>
            <a:r>
              <a:rPr lang="en-GB" dirty="0"/>
              <a:t> Ebene</a:t>
            </a:r>
          </a:p>
          <a:p>
            <a:pPr lvl="3"/>
            <a:r>
              <a:rPr lang="en-GB" dirty="0" err="1"/>
              <a:t>Vierte</a:t>
            </a:r>
            <a:r>
              <a:rPr lang="en-GB" dirty="0"/>
              <a:t> Ebene</a:t>
            </a:r>
          </a:p>
          <a:p>
            <a:pPr lvl="4"/>
            <a:r>
              <a:rPr lang="en-GB" dirty="0" err="1"/>
              <a:t>Fünfte</a:t>
            </a:r>
            <a:r>
              <a:rPr lang="en-GB" dirty="0"/>
              <a:t> Ebene</a:t>
            </a:r>
          </a:p>
        </p:txBody>
      </p:sp>
      <p:sp>
        <p:nvSpPr>
          <p:cNvPr id="1028" name="txtPresentationTitle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34963" y="194736"/>
            <a:ext cx="9674225" cy="18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000000"/>
                </a:solidFill>
                <a:latin typeface="E+H Serif"/>
              </a:defRPr>
            </a:lvl1pPr>
          </a:lstStyle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1029" name="txtPresenter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13339" y="6469380"/>
            <a:ext cx="201295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 noProof="1">
                <a:solidFill>
                  <a:srgbClr val="000000"/>
                </a:solidFill>
                <a:latin typeface="E+H Serif"/>
              </a:defRPr>
            </a:lvl1pPr>
          </a:lstStyle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1030" name="txt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633051" y="6469380"/>
            <a:ext cx="5715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200" noProof="1">
                <a:solidFill>
                  <a:srgbClr val="000000"/>
                </a:solidFill>
                <a:latin typeface="E+H Serif"/>
              </a:defRPr>
            </a:lvl1pPr>
          </a:lstStyle>
          <a:p>
            <a:r>
              <a:rPr lang="en-GB"/>
              <a:t>Slide </a:t>
            </a:r>
            <a:fld id="{FD5849AE-96E2-40E2-AD2F-E0762D594E4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33" name="shLine"/>
          <p:cNvSpPr>
            <a:spLocks noChangeShapeType="1"/>
          </p:cNvSpPr>
          <p:nvPr/>
        </p:nvSpPr>
        <p:spPr bwMode="gray">
          <a:xfrm flipV="1">
            <a:off x="0" y="6267219"/>
            <a:ext cx="12192000" cy="0"/>
          </a:xfrm>
          <a:prstGeom prst="line">
            <a:avLst/>
          </a:prstGeom>
          <a:noFill/>
          <a:ln w="6350">
            <a:solidFill>
              <a:srgbClr val="C3CED5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GB" dirty="0">
              <a:latin typeface="E+H Serif"/>
            </a:endParaRPr>
          </a:p>
        </p:txBody>
      </p:sp>
      <p:sp>
        <p:nvSpPr>
          <p:cNvPr id="12" name="txtDate"/>
          <p:cNvSpPr>
            <a:spLocks noChangeArrowheads="1"/>
          </p:cNvSpPr>
          <p:nvPr/>
        </p:nvSpPr>
        <p:spPr bwMode="auto">
          <a:xfrm>
            <a:off x="2751751" y="6469380"/>
            <a:ext cx="814388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r>
              <a:rPr lang="en-GB" sz="1200" noProof="1">
                <a:solidFill>
                  <a:srgbClr val="000000"/>
                </a:solidFill>
                <a:latin typeface="E+H Serif" pitchFamily="18" charset="0"/>
              </a:rPr>
              <a:t>24.02.2026</a:t>
            </a:r>
          </a:p>
        </p:txBody>
      </p:sp>
      <p:pic>
        <p:nvPicPr>
          <p:cNvPr id="5" name="imgLogo">
            <a:extLst>
              <a:ext uri="{FF2B5EF4-FFF2-40B4-BE49-F238E27FC236}">
                <a16:creationId xmlns:a16="http://schemas.microsoft.com/office/drawing/2014/main" id="{5D5402A9-0B6A-E5FB-4697-01749AAE97EA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99" y="6451600"/>
            <a:ext cx="1854200" cy="216725"/>
          </a:xfrm>
          <a:prstGeom prst="rect">
            <a:avLst/>
          </a:prstGeom>
        </p:spPr>
      </p:pic>
      <p:sp>
        <p:nvSpPr>
          <p:cNvPr id="2" name="txtClassification">
            <a:extLst>
              <a:ext uri="{FF2B5EF4-FFF2-40B4-BE49-F238E27FC236}">
                <a16:creationId xmlns:a16="http://schemas.microsoft.com/office/drawing/2014/main" id="{D9F01D83-5665-33AD-520A-A3EADF0E239D}"/>
              </a:ext>
            </a:extLst>
          </p:cNvPr>
          <p:cNvSpPr txBox="1"/>
          <p:nvPr userDrawn="1"/>
        </p:nvSpPr>
        <p:spPr>
          <a:xfrm>
            <a:off x="334963" y="6469380"/>
            <a:ext cx="750888" cy="1793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de-CH" sz="1200" b="0" i="0" u="none" cap="all" baseline="0">
                <a:solidFill>
                  <a:srgbClr val="A8005C"/>
                </a:solidFill>
                <a:latin typeface="E+H Serif" pitchFamily="18" charset="0"/>
              </a:rPr>
              <a:t>Internal</a:t>
            </a:r>
            <a:endParaRPr lang="de-CH" sz="1200" b="0" i="0" u="none" cap="all" baseline="0" dirty="0">
              <a:solidFill>
                <a:srgbClr val="A8005C"/>
              </a:solidFill>
              <a:latin typeface="E+H Serif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0" r:id="rId2"/>
    <p:sldLayoutId id="2147483697" r:id="rId3"/>
    <p:sldLayoutId id="2147483668" r:id="rId4"/>
    <p:sldLayoutId id="2147483672" r:id="rId5"/>
    <p:sldLayoutId id="2147483673" r:id="rId6"/>
    <p:sldLayoutId id="2147483683" r:id="rId7"/>
    <p:sldLayoutId id="2147483684" r:id="rId8"/>
    <p:sldLayoutId id="2147483676" r:id="rId9"/>
    <p:sldLayoutId id="2147483677" r:id="rId10"/>
    <p:sldLayoutId id="2147483664" r:id="rId11"/>
    <p:sldLayoutId id="2147483663" r:id="rId12"/>
    <p:sldLayoutId id="2147483665" r:id="rId13"/>
    <p:sldLayoutId id="2147483666" r:id="rId14"/>
    <p:sldLayoutId id="2147483652" r:id="rId15"/>
    <p:sldLayoutId id="2147483682" r:id="rId16"/>
    <p:sldLayoutId id="2147483654" r:id="rId17"/>
    <p:sldLayoutId id="2147483655" r:id="rId18"/>
    <p:sldLayoutId id="2147483678" r:id="rId19"/>
    <p:sldLayoutId id="2147483685" r:id="rId20"/>
    <p:sldLayoutId id="2147483686" r:id="rId21"/>
    <p:sldLayoutId id="2147483688" r:id="rId22"/>
    <p:sldLayoutId id="2147483689" r:id="rId23"/>
    <p:sldLayoutId id="2147483690" r:id="rId24"/>
    <p:sldLayoutId id="2147483679" r:id="rId25"/>
    <p:sldLayoutId id="2147483692" r:id="rId26"/>
    <p:sldLayoutId id="2147483693" r:id="rId27"/>
    <p:sldLayoutId id="2147483694" r:id="rId28"/>
    <p:sldLayoutId id="2147483698" r:id="rId29"/>
    <p:sldLayoutId id="2147483695" r:id="rId30"/>
    <p:sldLayoutId id="2147483696" r:id="rId31"/>
    <p:sldLayoutId id="2147483687" r:id="rId32"/>
    <p:sldLayoutId id="2147483691" r:id="rId33"/>
    <p:sldLayoutId id="2147483681" r:id="rId34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A8005C"/>
          </a:solidFill>
          <a:latin typeface="E+H Serif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E+H Serif" pitchFamily="2" charset="0"/>
        </a:defRPr>
      </a:lvl9pPr>
    </p:titleStyle>
    <p:bodyStyle>
      <a:lvl1pPr marL="269875" indent="-269875" algn="l" rtl="0" eaLnBrk="1" fontAlgn="base" hangingPunct="1">
        <a:lnSpc>
          <a:spcPct val="110000"/>
        </a:lnSpc>
        <a:spcBef>
          <a:spcPts val="0"/>
        </a:spcBef>
        <a:spcAft>
          <a:spcPts val="600"/>
        </a:spcAft>
        <a:buClr>
          <a:srgbClr val="007CAA"/>
        </a:buClr>
        <a:buFont typeface="E+H Serif" pitchFamily="18" charset="0"/>
        <a:buChar char="•"/>
        <a:defRPr sz="2000">
          <a:solidFill>
            <a:srgbClr val="000000"/>
          </a:solidFill>
          <a:latin typeface="E+H Serif"/>
          <a:ea typeface="+mn-ea"/>
          <a:cs typeface="+mn-cs"/>
        </a:defRPr>
      </a:lvl1pPr>
      <a:lvl2pPr marL="541338" indent="-271463" algn="l" rtl="0" eaLnBrk="1" fontAlgn="base" hangingPunct="1">
        <a:lnSpc>
          <a:spcPct val="110000"/>
        </a:lnSpc>
        <a:spcBef>
          <a:spcPts val="0"/>
        </a:spcBef>
        <a:spcAft>
          <a:spcPts val="600"/>
        </a:spcAft>
        <a:buClr>
          <a:srgbClr val="007CAA"/>
        </a:buClr>
        <a:buFont typeface="E+H Serif" pitchFamily="18" charset="0"/>
        <a:buChar char="•"/>
        <a:defRPr sz="1800">
          <a:solidFill>
            <a:srgbClr val="000000"/>
          </a:solidFill>
          <a:latin typeface="E+H Serif"/>
        </a:defRPr>
      </a:lvl2pPr>
      <a:lvl3pPr marL="717550" indent="-182563" algn="l" rtl="0" eaLnBrk="1" fontAlgn="base" hangingPunct="1">
        <a:lnSpc>
          <a:spcPct val="110000"/>
        </a:lnSpc>
        <a:spcBef>
          <a:spcPts val="0"/>
        </a:spcBef>
        <a:spcAft>
          <a:spcPts val="400"/>
        </a:spcAft>
        <a:buClr>
          <a:srgbClr val="007CAA"/>
        </a:buClr>
        <a:buFont typeface="E+H Serif" pitchFamily="18" charset="0"/>
        <a:buChar char="•"/>
        <a:defRPr sz="1400">
          <a:solidFill>
            <a:srgbClr val="000000"/>
          </a:solidFill>
          <a:latin typeface="E+H Serif"/>
        </a:defRPr>
      </a:lvl3pPr>
      <a:lvl4pPr marL="900113" indent="-176213" algn="l" rtl="0" eaLnBrk="1" fontAlgn="base" hangingPunct="1">
        <a:lnSpc>
          <a:spcPct val="110000"/>
        </a:lnSpc>
        <a:spcBef>
          <a:spcPts val="0"/>
        </a:spcBef>
        <a:spcAft>
          <a:spcPts val="400"/>
        </a:spcAft>
        <a:buClr>
          <a:srgbClr val="007CAA"/>
        </a:buClr>
        <a:buFont typeface="E+H Serif" pitchFamily="18" charset="0"/>
        <a:buChar char="•"/>
        <a:defRPr sz="1400">
          <a:solidFill>
            <a:srgbClr val="000000"/>
          </a:solidFill>
          <a:latin typeface="E+H Serif"/>
        </a:defRPr>
      </a:lvl4pPr>
      <a:lvl5pPr marL="1074738" indent="-182563" algn="l" rtl="0" eaLnBrk="1" fontAlgn="base" hangingPunct="1">
        <a:lnSpc>
          <a:spcPct val="110000"/>
        </a:lnSpc>
        <a:spcBef>
          <a:spcPts val="0"/>
        </a:spcBef>
        <a:spcAft>
          <a:spcPts val="400"/>
        </a:spcAft>
        <a:buClr>
          <a:srgbClr val="007CAA"/>
        </a:buClr>
        <a:buFont typeface="E+H Serif" pitchFamily="18" charset="0"/>
        <a:buChar char="•"/>
        <a:defRPr sz="1400">
          <a:solidFill>
            <a:srgbClr val="000000"/>
          </a:solidFill>
          <a:latin typeface="E+H Serif"/>
        </a:defRPr>
      </a:lvl5pPr>
      <a:lvl6pPr marL="22526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6pPr>
      <a:lvl7pPr marL="27098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7pPr>
      <a:lvl8pPr marL="31670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8pPr>
      <a:lvl9pPr marL="3624263" indent="-179388" algn="l" rtl="0" eaLnBrk="1" fontAlgn="base" hangingPunct="1">
        <a:lnSpc>
          <a:spcPct val="110000"/>
        </a:lnSpc>
        <a:spcBef>
          <a:spcPct val="90000"/>
        </a:spcBef>
        <a:spcAft>
          <a:spcPct val="0"/>
        </a:spcAft>
        <a:buClr>
          <a:srgbClr val="0088FF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3" orient="horz" pos="3838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pos="6306" userDrawn="1">
          <p15:clr>
            <a:srgbClr val="F26B43"/>
          </p15:clr>
        </p15:guide>
        <p15:guide id="6" orient="horz" pos="731" userDrawn="1">
          <p15:clr>
            <a:srgbClr val="F26B43"/>
          </p15:clr>
        </p15:guide>
        <p15:guide id="7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3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10.png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Relationship Id="rId6" Type="http://schemas.openxmlformats.org/officeDocument/2006/relationships/image" Target="../media/image80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13.png"/><Relationship Id="rId9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8.png"/><Relationship Id="rId2" Type="http://schemas.openxmlformats.org/officeDocument/2006/relationships/image" Target="../media/image25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10.png"/><Relationship Id="rId17" Type="http://schemas.openxmlformats.org/officeDocument/2006/relationships/image" Target="../media/image46.png"/><Relationship Id="rId2" Type="http://schemas.openxmlformats.org/officeDocument/2006/relationships/image" Target="../media/image32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19" Type="http://schemas.openxmlformats.org/officeDocument/2006/relationships/image" Target="../media/image48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33.png"/><Relationship Id="rId7" Type="http://schemas.openxmlformats.org/officeDocument/2006/relationships/image" Target="../media/image52.png"/><Relationship Id="rId12" Type="http://schemas.openxmlformats.org/officeDocument/2006/relationships/image" Target="../media/image55.png"/><Relationship Id="rId17" Type="http://schemas.openxmlformats.org/officeDocument/2006/relationships/image" Target="../media/image10.png"/><Relationship Id="rId2" Type="http://schemas.openxmlformats.org/officeDocument/2006/relationships/image" Target="../media/image49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png"/><Relationship Id="rId11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image" Target="../media/image40.png"/><Relationship Id="rId1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gTitleImage">
            <a:extLst>
              <a:ext uri="{FF2B5EF4-FFF2-40B4-BE49-F238E27FC236}">
                <a16:creationId xmlns:a16="http://schemas.microsoft.com/office/drawing/2014/main" id="{D6ED669C-FAB4-DDD5-3CC3-847AB8D9CC7C}"/>
              </a:ext>
            </a:extLst>
          </p:cNvPr>
          <p:cNvPicPr>
            <a:picLocks noGrp="1"/>
          </p:cNvPicPr>
          <p:nvPr>
            <p:ph type="pic" sz="quarter" idx="13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440"/>
          <a:stretch>
            <a:fillRect/>
          </a:stretch>
        </p:blipFill>
        <p:spPr/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A4BD512-8888-3571-BBB4-2135E5ACD2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962" y="3215568"/>
            <a:ext cx="11857036" cy="305823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16AD88-F4D7-9658-2A23-27726B328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964" y="3742482"/>
            <a:ext cx="9351811" cy="1431013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Gaussian Processes </a:t>
            </a:r>
            <a:br>
              <a:rPr lang="en-US" dirty="0"/>
            </a:br>
            <a:endParaRPr lang="en-GB" i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5DBE8C5-106F-9E45-96DE-92C740078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63" y="5361113"/>
            <a:ext cx="9351812" cy="563036"/>
          </a:xfrm>
        </p:spPr>
        <p:txBody>
          <a:bodyPr wrap="square" anchor="t">
            <a:normAutofit/>
          </a:bodyPr>
          <a:lstStyle/>
          <a:p>
            <a:pPr>
              <a:lnSpc>
                <a:spcPct val="96000"/>
              </a:lnSpc>
              <a:spcAft>
                <a:spcPts val="600"/>
              </a:spcAft>
            </a:pPr>
            <a:r>
              <a:rPr lang="en-US" i="1" dirty="0"/>
              <a:t>Separating signal from noise using a Bayesian machine learning approach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4306E7-D600-0677-5836-F51695357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/>
              <a:t>Slide </a:t>
            </a:r>
            <a:fld id="{5063737A-D474-4FA3-871A-C701BCBF698C}" type="slidenum">
              <a:rPr lang="en-GB" smtClean="0"/>
              <a:t>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05696-F0E7-F641-41FB-3042D997E66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Max Bergau, Timo Schirmeier</a:t>
            </a:r>
          </a:p>
        </p:txBody>
      </p:sp>
    </p:spTree>
    <p:extLst>
      <p:ext uri="{BB962C8B-B14F-4D97-AF65-F5344CB8AC3E}">
        <p14:creationId xmlns:p14="http://schemas.microsoft.com/office/powerpoint/2010/main" val="180604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002ECA-C9CF-8694-8F45-08ED7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8A4216-BD4C-0D3D-EB98-235DC267E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Max:</a:t>
            </a:r>
          </a:p>
          <a:p>
            <a:r>
              <a:rPr lang="en-GB" dirty="0"/>
              <a:t>What are GPs on the example of Regression:</a:t>
            </a:r>
          </a:p>
          <a:p>
            <a:pPr lvl="1"/>
            <a:r>
              <a:rPr lang="en-GB" dirty="0" err="1"/>
              <a:t>Frequentistic</a:t>
            </a:r>
            <a:r>
              <a:rPr lang="en-GB" dirty="0"/>
              <a:t> approaches &lt;-&gt; </a:t>
            </a:r>
            <a:r>
              <a:rPr lang="en-GB"/>
              <a:t>Bayesian approach</a:t>
            </a:r>
          </a:p>
          <a:p>
            <a:r>
              <a:rPr lang="en-GB" dirty="0"/>
              <a:t>Was </a:t>
            </a:r>
            <a:r>
              <a:rPr lang="en-GB" dirty="0" err="1"/>
              <a:t>ist</a:t>
            </a:r>
            <a:r>
              <a:rPr lang="en-GB" dirty="0"/>
              <a:t> GP (</a:t>
            </a:r>
            <a:r>
              <a:rPr lang="en-GB" dirty="0" err="1"/>
              <a:t>Bayesianische</a:t>
            </a:r>
            <a:r>
              <a:rPr lang="en-GB" dirty="0"/>
              <a:t> </a:t>
            </a:r>
            <a:r>
              <a:rPr lang="en-GB" dirty="0" err="1"/>
              <a:t>Statistik</a:t>
            </a:r>
            <a:r>
              <a:rPr lang="en-GB" dirty="0"/>
              <a:t>, </a:t>
            </a:r>
            <a:r>
              <a:rPr lang="en-GB" dirty="0" err="1"/>
              <a:t>Propabilistische</a:t>
            </a:r>
            <a:r>
              <a:rPr lang="en-GB" dirty="0"/>
              <a:t> Modelle, …)</a:t>
            </a:r>
          </a:p>
          <a:p>
            <a:r>
              <a:rPr lang="en-GB" dirty="0" err="1"/>
              <a:t>Wofür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GPs </a:t>
            </a:r>
            <a:r>
              <a:rPr lang="en-GB" dirty="0" err="1"/>
              <a:t>nutzen</a:t>
            </a:r>
            <a:r>
              <a:rPr lang="en-GB" dirty="0"/>
              <a:t>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Timo:</a:t>
            </a:r>
          </a:p>
          <a:p>
            <a:r>
              <a:rPr lang="en-GB" dirty="0"/>
              <a:t>Pipeline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F8A9A-78A6-2A92-D6F9-60B610C4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28779-DFD0-8F0F-A4D7-08757CB3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625A464-41B3-4019-BAA4-4197B12D88E6}" type="slidenum">
              <a:rPr lang="en-GB" smtClean="0"/>
              <a:t>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A029E-411B-A5D7-0044-914414B4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</a:p>
        </p:txBody>
      </p:sp>
    </p:spTree>
    <p:extLst>
      <p:ext uri="{BB962C8B-B14F-4D97-AF65-F5344CB8AC3E}">
        <p14:creationId xmlns:p14="http://schemas.microsoft.com/office/powerpoint/2010/main" val="140241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D83D8-BA20-3163-C8BF-1FE8D077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DA9068F-9E42-2CEF-1374-8AA3D6EF56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What are Gaussian Processes?</a:t>
            </a:r>
          </a:p>
          <a:p>
            <a:r>
              <a:rPr lang="en-GB" sz="1600" dirty="0"/>
              <a:t>Shown at the example of regression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8FA05-5B92-41E2-4CD7-85F65706B9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661D6024-9477-437D-BE88-3BED7D0BC858}" type="slidenum">
              <a:rPr lang="en-GB" smtClean="0"/>
              <a:t>3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B3F7CD-4C49-B3C9-7D88-CBD9982F19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</p:spTree>
    <p:extLst>
      <p:ext uri="{BB962C8B-B14F-4D97-AF65-F5344CB8AC3E}">
        <p14:creationId xmlns:p14="http://schemas.microsoft.com/office/powerpoint/2010/main" val="156698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C374-5CFC-0A9A-A624-F89423A6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5410-DAE3-46BC-6A3E-774495DB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-&gt; Supervised Learning -&gt;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F3A0-F724-53CA-235F-3D66E7CA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164474"/>
            <a:ext cx="5190766" cy="4928351"/>
          </a:xfrm>
        </p:spPr>
        <p:txBody>
          <a:bodyPr/>
          <a:lstStyle/>
          <a:p>
            <a:r>
              <a:rPr lang="en-US" dirty="0"/>
              <a:t>Search Input to Output mapping </a:t>
            </a:r>
            <a:r>
              <a:rPr lang="en-US" b="1" dirty="0"/>
              <a:t>from empirical data</a:t>
            </a:r>
          </a:p>
          <a:p>
            <a:r>
              <a:rPr lang="en-US" dirty="0"/>
              <a:t>Continuous output mapping: </a:t>
            </a:r>
            <a:r>
              <a:rPr lang="en-US" b="1" dirty="0"/>
              <a:t>Regression</a:t>
            </a:r>
          </a:p>
          <a:p>
            <a:pPr lvl="1"/>
            <a:endParaRPr lang="en-US" dirty="0"/>
          </a:p>
          <a:p>
            <a:r>
              <a:rPr lang="en-US" dirty="0"/>
              <a:t>Problem: “All functions describing the data equally valid (?)”</a:t>
            </a:r>
          </a:p>
          <a:p>
            <a:pPr lvl="3"/>
            <a:endParaRPr lang="en-US" dirty="0"/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9F46-DF14-8A91-5770-6F968B53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C5D0E-DF1A-EB9C-E16F-7FC74495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91F24-9C65-D051-9A1B-7907A6CA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5876FF-A570-4848-0A15-3C5010F2F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5312" y="1459534"/>
            <a:ext cx="5957492" cy="35315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332EA2-D870-D4B2-7F60-72B1EA74FA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1553" y="1459534"/>
            <a:ext cx="5953443" cy="352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6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74FF-D3AE-CBD0-4559-D98B67FF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6036-AE04-E72C-390D-D396B0766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(Regression)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8D090-2900-62EA-A249-D7E9F59BC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164474"/>
            <a:ext cx="4980750" cy="21428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Typical approach:</a:t>
            </a:r>
          </a:p>
          <a:p>
            <a:r>
              <a:rPr lang="en-US" dirty="0"/>
              <a:t>Linear functions only (linear regression)</a:t>
            </a:r>
          </a:p>
          <a:p>
            <a:r>
              <a:rPr lang="en-US" dirty="0"/>
              <a:t>Polynomial regression</a:t>
            </a:r>
          </a:p>
          <a:p>
            <a:r>
              <a:rPr lang="en-US" dirty="0"/>
              <a:t>Decision Trees/ Random Forests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….</a:t>
            </a:r>
          </a:p>
          <a:p>
            <a:pPr marL="723900" lvl="3" indent="0">
              <a:buNone/>
            </a:pPr>
            <a:endParaRPr lang="en-US" dirty="0"/>
          </a:p>
          <a:p>
            <a:pPr marL="7239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6571-C849-9F03-3925-C4E3B379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3BAE5-5905-C73B-49AA-721B46C7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1E0EB-7A2E-EDA9-6210-A8C615C12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2065BF3-8D79-AC47-7BC3-FB36585BB03E}"/>
              </a:ext>
            </a:extLst>
          </p:cNvPr>
          <p:cNvSpPr/>
          <p:nvPr/>
        </p:nvSpPr>
        <p:spPr>
          <a:xfrm rot="5400000">
            <a:off x="2682752" y="1211689"/>
            <a:ext cx="285172" cy="4980749"/>
          </a:xfrm>
          <a:prstGeom prst="rightBrace">
            <a:avLst/>
          </a:prstGeom>
          <a:ln w="12700">
            <a:solidFill>
              <a:srgbClr val="007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C7EAB-0E32-B2C6-DCF1-E024A4773BCD}"/>
              </a:ext>
            </a:extLst>
          </p:cNvPr>
          <p:cNvSpPr txBox="1"/>
          <p:nvPr/>
        </p:nvSpPr>
        <p:spPr>
          <a:xfrm>
            <a:off x="1890235" y="3982217"/>
            <a:ext cx="198367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i="1" dirty="0">
                <a:latin typeface="E+H Serif" pitchFamily="18" charset="0"/>
              </a:rPr>
              <a:t>Restrict class of functions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484B0-F858-2477-55A7-D69BE39B23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5312" y="1459534"/>
            <a:ext cx="5957492" cy="3531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41902B-25E2-68C4-933D-970DFEA55A7C}"/>
                  </a:ext>
                </a:extLst>
              </p:cNvPr>
              <p:cNvSpPr txBox="1"/>
              <p:nvPr/>
            </p:nvSpPr>
            <p:spPr>
              <a:xfrm>
                <a:off x="641213" y="4936309"/>
                <a:ext cx="548507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000" i="1" dirty="0">
                    <a:latin typeface="E+H Serif" pitchFamily="18" charset="0"/>
                  </a:rPr>
                  <a:t>Example: </a:t>
                </a:r>
                <a:r>
                  <a:rPr lang="en-US" sz="2000" i="1" dirty="0">
                    <a:solidFill>
                      <a:srgbClr val="90295D"/>
                    </a:solidFill>
                    <a:latin typeface="E+H Serif" pitchFamily="18" charset="0"/>
                  </a:rPr>
                  <a:t>Linear regression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b="0" i="1" baseline="-25000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1  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b="0" i="1" baseline="-25000" smtClean="0">
                        <a:solidFill>
                          <a:srgbClr val="90295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000" i="1" baseline="-25000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41902B-25E2-68C4-933D-970DFEA55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13" y="4936309"/>
                <a:ext cx="5485076" cy="307777"/>
              </a:xfrm>
              <a:prstGeom prst="rect">
                <a:avLst/>
              </a:prstGeom>
              <a:blipFill>
                <a:blip r:embed="rId4"/>
                <a:stretch>
                  <a:fillRect l="-2778" t="-26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A0A5A-0547-9143-A660-8AF8DCD641A8}"/>
              </a:ext>
            </a:extLst>
          </p:cNvPr>
          <p:cNvCxnSpPr>
            <a:cxnSpLocks/>
          </p:cNvCxnSpPr>
          <p:nvPr/>
        </p:nvCxnSpPr>
        <p:spPr>
          <a:xfrm>
            <a:off x="6473952" y="3001192"/>
            <a:ext cx="5096256" cy="107768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21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0D59-8983-C0D4-3904-6AADA5CC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927E-15EA-4654-310F-646AF8A2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(Regression)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8F2CE-9BC8-FF31-71E2-8B9098304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164474"/>
            <a:ext cx="4579565" cy="21428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Typical approach:</a:t>
            </a:r>
          </a:p>
          <a:p>
            <a:r>
              <a:rPr lang="en-US" i="1" dirty="0">
                <a:latin typeface="E+H Serif" pitchFamily="18" charset="0"/>
              </a:rPr>
              <a:t>Restrict class of functions</a:t>
            </a:r>
          </a:p>
          <a:p>
            <a:pPr algn="ctr"/>
            <a:endParaRPr lang="en-US" i="1" dirty="0">
              <a:latin typeface="E+H Serif" pitchFamily="18" charset="0"/>
            </a:endParaRPr>
          </a:p>
          <a:p>
            <a:pPr marL="0" indent="0">
              <a:buNone/>
            </a:pPr>
            <a:r>
              <a:rPr lang="en-US" dirty="0">
                <a:latin typeface="E+H Serif" pitchFamily="18" charset="0"/>
              </a:rPr>
              <a:t>Bayesian Approach</a:t>
            </a:r>
            <a:r>
              <a:rPr lang="en-US" i="1" dirty="0">
                <a:latin typeface="E+H Serif" pitchFamily="18" charset="0"/>
              </a:rPr>
              <a:t>:</a:t>
            </a:r>
          </a:p>
          <a:p>
            <a:r>
              <a:rPr lang="en-US" dirty="0"/>
              <a:t>Give a probability to EVERY POSSIBLE function going through the data</a:t>
            </a:r>
          </a:p>
          <a:p>
            <a:r>
              <a:rPr lang="en-US" i="1" dirty="0"/>
              <a:t> In other words:</a:t>
            </a:r>
          </a:p>
          <a:p>
            <a:pPr marL="271463" lvl="1" indent="0">
              <a:buNone/>
            </a:pPr>
            <a:r>
              <a:rPr lang="en-US" i="1" dirty="0"/>
              <a:t>probability-density-function for functions</a:t>
            </a:r>
          </a:p>
          <a:p>
            <a:endParaRPr lang="en-US" dirty="0"/>
          </a:p>
          <a:p>
            <a:pPr marL="7239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5DD76-32B5-CE1F-9DCB-05F148E0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1305F-CFC5-16A7-2820-950FF114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A535B-5305-3B8F-91D6-8A03C388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61D540-A58C-FC89-5CC1-243769DBC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7539" y="1459534"/>
            <a:ext cx="5953037" cy="353156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D76DC5-8108-43F2-E3AF-31653A57B939}"/>
              </a:ext>
            </a:extLst>
          </p:cNvPr>
          <p:cNvCxnSpPr>
            <a:cxnSpLocks/>
          </p:cNvCxnSpPr>
          <p:nvPr/>
        </p:nvCxnSpPr>
        <p:spPr>
          <a:xfrm>
            <a:off x="5819887" y="2222539"/>
            <a:ext cx="679735" cy="274013"/>
          </a:xfrm>
          <a:prstGeom prst="straightConnector1">
            <a:avLst/>
          </a:prstGeom>
          <a:ln w="12700">
            <a:solidFill>
              <a:srgbClr val="007C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138F37-88D1-CE58-4003-2A3D8721895B}"/>
              </a:ext>
            </a:extLst>
          </p:cNvPr>
          <p:cNvCxnSpPr>
            <a:cxnSpLocks/>
          </p:cNvCxnSpPr>
          <p:nvPr/>
        </p:nvCxnSpPr>
        <p:spPr>
          <a:xfrm flipV="1">
            <a:off x="5557838" y="3307337"/>
            <a:ext cx="1557337" cy="1571844"/>
          </a:xfrm>
          <a:prstGeom prst="straightConnector1">
            <a:avLst/>
          </a:prstGeom>
          <a:ln w="12700">
            <a:solidFill>
              <a:srgbClr val="EE827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25064C-C99E-2CD1-F921-1A6AECEFA4DB}"/>
              </a:ext>
            </a:extLst>
          </p:cNvPr>
          <p:cNvCxnSpPr/>
          <p:nvPr/>
        </p:nvCxnSpPr>
        <p:spPr>
          <a:xfrm flipV="1">
            <a:off x="6336506" y="3307337"/>
            <a:ext cx="1107282" cy="1683763"/>
          </a:xfrm>
          <a:prstGeom prst="straightConnector1">
            <a:avLst/>
          </a:prstGeom>
          <a:ln w="12700">
            <a:solidFill>
              <a:srgbClr val="4ED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871FF3-998B-DDAC-8855-C9452EB1C4E0}"/>
              </a:ext>
            </a:extLst>
          </p:cNvPr>
          <p:cNvSpPr txBox="1"/>
          <p:nvPr/>
        </p:nvSpPr>
        <p:spPr>
          <a:xfrm>
            <a:off x="5086483" y="2045626"/>
            <a:ext cx="5786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solidFill>
                  <a:srgbClr val="59AAE1"/>
                </a:solidFill>
                <a:latin typeface="E+H Sans Asia_ME" pitchFamily="2" charset="0"/>
                <a:ea typeface="E+H Sans Asia_ME" pitchFamily="2" charset="0"/>
                <a:cs typeface="E+H Sans Asia_ME" pitchFamily="2" charset="0"/>
              </a:rPr>
              <a:t>0.11%</a:t>
            </a:r>
            <a:endParaRPr lang="en-US" sz="2000" dirty="0">
              <a:solidFill>
                <a:srgbClr val="59AAE1"/>
              </a:solidFill>
              <a:latin typeface="E+H Sans Asia_ME" pitchFamily="2" charset="0"/>
              <a:ea typeface="E+H Sans Asia_ME" pitchFamily="2" charset="0"/>
              <a:cs typeface="E+H Sans Asia_ME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605A43-0B7A-2362-729E-381D7F257350}"/>
              </a:ext>
            </a:extLst>
          </p:cNvPr>
          <p:cNvSpPr txBox="1"/>
          <p:nvPr/>
        </p:nvSpPr>
        <p:spPr>
          <a:xfrm>
            <a:off x="5086483" y="4912043"/>
            <a:ext cx="5786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solidFill>
                  <a:srgbClr val="ED7F73"/>
                </a:solidFill>
                <a:latin typeface="E+H Sans Asia_ME" pitchFamily="2" charset="0"/>
                <a:ea typeface="E+H Sans Asia_ME" pitchFamily="2" charset="0"/>
                <a:cs typeface="E+H Sans Asia_ME" pitchFamily="2" charset="0"/>
              </a:rPr>
              <a:t>0.05%</a:t>
            </a:r>
            <a:endParaRPr lang="en-US" sz="2000" dirty="0">
              <a:solidFill>
                <a:srgbClr val="ED7F73"/>
              </a:solidFill>
              <a:latin typeface="E+H Sans Asia_ME" pitchFamily="2" charset="0"/>
              <a:ea typeface="E+H Sans Asia_ME" pitchFamily="2" charset="0"/>
              <a:cs typeface="E+H Sans Asia_M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FFBF72-FAF8-6D26-EBB8-1DE9FADDA868}"/>
              </a:ext>
            </a:extLst>
          </p:cNvPr>
          <p:cNvSpPr txBox="1"/>
          <p:nvPr/>
        </p:nvSpPr>
        <p:spPr>
          <a:xfrm>
            <a:off x="6132123" y="5042296"/>
            <a:ext cx="5786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solidFill>
                  <a:srgbClr val="4ED386"/>
                </a:solidFill>
                <a:latin typeface="E+H Sans Asia_ME" pitchFamily="2" charset="0"/>
                <a:ea typeface="E+H Sans Asia_ME" pitchFamily="2" charset="0"/>
                <a:cs typeface="E+H Sans Asia_ME" pitchFamily="2" charset="0"/>
              </a:rPr>
              <a:t>0.02%</a:t>
            </a:r>
            <a:endParaRPr lang="en-US" sz="2000" dirty="0">
              <a:solidFill>
                <a:srgbClr val="4ED386"/>
              </a:solidFill>
              <a:latin typeface="E+H Sans Asia_ME" pitchFamily="2" charset="0"/>
              <a:ea typeface="E+H Sans Asia_ME" pitchFamily="2" charset="0"/>
              <a:cs typeface="E+H Sans Asia_M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84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CEBDD-1366-16C6-F53D-D979522B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E757-D2DB-2C0B-F43C-317C946D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(Regression)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CB931-AB18-A2D4-B611-A4A94E19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164474"/>
            <a:ext cx="4579565" cy="2142863"/>
          </a:xfrm>
        </p:spPr>
        <p:txBody>
          <a:bodyPr/>
          <a:lstStyle/>
          <a:p>
            <a:pPr marL="271463" lvl="1" indent="0">
              <a:buNone/>
            </a:pPr>
            <a:r>
              <a:rPr lang="en-US" i="1" dirty="0"/>
              <a:t>probability-density-function for functions</a:t>
            </a:r>
          </a:p>
          <a:p>
            <a:endParaRPr lang="en-US" dirty="0"/>
          </a:p>
          <a:p>
            <a:pPr marL="7239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F03D0-10E9-098F-A673-3781E835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69966-17D1-7C65-0AEF-4DCE0726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331F-27BD-2172-EEF7-378E2988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7</a:t>
            </a:fld>
            <a:endParaRPr lang="en-GB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6940F2B-C814-8BF6-F303-B2B826F3C497}"/>
              </a:ext>
            </a:extLst>
          </p:cNvPr>
          <p:cNvGrpSpPr/>
          <p:nvPr/>
        </p:nvGrpSpPr>
        <p:grpSpPr>
          <a:xfrm>
            <a:off x="7922102" y="708660"/>
            <a:ext cx="3530757" cy="2081928"/>
            <a:chOff x="5928360" y="708660"/>
            <a:chExt cx="5524500" cy="325754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FECBDF8-52EB-CD5C-C6F4-454A58C5AE45}"/>
                </a:ext>
              </a:extLst>
            </p:cNvPr>
            <p:cNvGrpSpPr/>
            <p:nvPr/>
          </p:nvGrpSpPr>
          <p:grpSpPr>
            <a:xfrm>
              <a:off x="5928360" y="708660"/>
              <a:ext cx="5524500" cy="2720340"/>
              <a:chOff x="5928360" y="708660"/>
              <a:chExt cx="5524500" cy="272034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E74D849-853B-CADB-7DC4-449DE38110DE}"/>
                  </a:ext>
                </a:extLst>
              </p:cNvPr>
              <p:cNvSpPr/>
              <p:nvPr/>
            </p:nvSpPr>
            <p:spPr>
              <a:xfrm>
                <a:off x="6020718" y="1515229"/>
                <a:ext cx="5016279" cy="1739456"/>
              </a:xfrm>
              <a:custGeom>
                <a:avLst/>
                <a:gdLst>
                  <a:gd name="csX0" fmla="*/ 0 w 3778981"/>
                  <a:gd name="csY0" fmla="*/ 1537487 h 1788340"/>
                  <a:gd name="csX1" fmla="*/ 1327094 w 3778981"/>
                  <a:gd name="csY1" fmla="*/ 1 h 1788340"/>
                  <a:gd name="csX2" fmla="*/ 2387151 w 3778981"/>
                  <a:gd name="csY2" fmla="*/ 1529395 h 1788340"/>
                  <a:gd name="csX3" fmla="*/ 3778981 w 3778981"/>
                  <a:gd name="csY3" fmla="*/ 1788340 h 1788340"/>
                  <a:gd name="csX0" fmla="*/ 79742 w 3858723"/>
                  <a:gd name="csY0" fmla="*/ 1537490 h 1788343"/>
                  <a:gd name="csX1" fmla="*/ 104018 w 3858723"/>
                  <a:gd name="csY1" fmla="*/ 1545582 h 1788343"/>
                  <a:gd name="csX2" fmla="*/ 1406836 w 3858723"/>
                  <a:gd name="csY2" fmla="*/ 4 h 1788343"/>
                  <a:gd name="csX3" fmla="*/ 2466893 w 3858723"/>
                  <a:gd name="csY3" fmla="*/ 1529398 h 1788343"/>
                  <a:gd name="csX4" fmla="*/ 3858723 w 3858723"/>
                  <a:gd name="csY4" fmla="*/ 1788343 h 1788343"/>
                  <a:gd name="csX0" fmla="*/ 0 w 4345719"/>
                  <a:gd name="csY0" fmla="*/ 1706559 h 1788343"/>
                  <a:gd name="csX1" fmla="*/ 591014 w 4345719"/>
                  <a:gd name="csY1" fmla="*/ 1545582 h 1788343"/>
                  <a:gd name="csX2" fmla="*/ 1893832 w 4345719"/>
                  <a:gd name="csY2" fmla="*/ 4 h 1788343"/>
                  <a:gd name="csX3" fmla="*/ 2953889 w 4345719"/>
                  <a:gd name="csY3" fmla="*/ 1529398 h 1788343"/>
                  <a:gd name="csX4" fmla="*/ 4345719 w 4345719"/>
                  <a:gd name="csY4" fmla="*/ 1788343 h 1788343"/>
                  <a:gd name="csX0" fmla="*/ 0 w 5145819"/>
                  <a:gd name="csY0" fmla="*/ 1744659 h 1788343"/>
                  <a:gd name="csX1" fmla="*/ 1391114 w 5145819"/>
                  <a:gd name="csY1" fmla="*/ 1545582 h 1788343"/>
                  <a:gd name="csX2" fmla="*/ 2693932 w 5145819"/>
                  <a:gd name="csY2" fmla="*/ 4 h 1788343"/>
                  <a:gd name="csX3" fmla="*/ 3753989 w 5145819"/>
                  <a:gd name="csY3" fmla="*/ 1529398 h 1788343"/>
                  <a:gd name="csX4" fmla="*/ 5145819 w 5145819"/>
                  <a:gd name="csY4" fmla="*/ 1788343 h 1788343"/>
                  <a:gd name="csX0" fmla="*/ 0 w 5214399"/>
                  <a:gd name="csY0" fmla="*/ 1744659 h 1773103"/>
                  <a:gd name="csX1" fmla="*/ 1391114 w 5214399"/>
                  <a:gd name="csY1" fmla="*/ 1545582 h 1773103"/>
                  <a:gd name="csX2" fmla="*/ 2693932 w 5214399"/>
                  <a:gd name="csY2" fmla="*/ 4 h 1773103"/>
                  <a:gd name="csX3" fmla="*/ 3753989 w 5214399"/>
                  <a:gd name="csY3" fmla="*/ 1529398 h 1773103"/>
                  <a:gd name="csX4" fmla="*/ 5214399 w 5214399"/>
                  <a:gd name="csY4" fmla="*/ 1773103 h 1773103"/>
                  <a:gd name="csX0" fmla="*/ 0 w 5054379"/>
                  <a:gd name="csY0" fmla="*/ 1729419 h 1773103"/>
                  <a:gd name="csX1" fmla="*/ 1231094 w 5054379"/>
                  <a:gd name="csY1" fmla="*/ 1545582 h 1773103"/>
                  <a:gd name="csX2" fmla="*/ 2533912 w 5054379"/>
                  <a:gd name="csY2" fmla="*/ 4 h 1773103"/>
                  <a:gd name="csX3" fmla="*/ 3593969 w 5054379"/>
                  <a:gd name="csY3" fmla="*/ 1529398 h 1773103"/>
                  <a:gd name="csX4" fmla="*/ 5054379 w 5054379"/>
                  <a:gd name="csY4" fmla="*/ 1773103 h 1773103"/>
                  <a:gd name="csX0" fmla="*/ 0 w 5054379"/>
                  <a:gd name="csY0" fmla="*/ 1729419 h 1773103"/>
                  <a:gd name="csX1" fmla="*/ 1231094 w 5054379"/>
                  <a:gd name="csY1" fmla="*/ 1545582 h 1773103"/>
                  <a:gd name="csX2" fmla="*/ 2389132 w 5054379"/>
                  <a:gd name="csY2" fmla="*/ 4 h 1773103"/>
                  <a:gd name="csX3" fmla="*/ 3593969 w 5054379"/>
                  <a:gd name="csY3" fmla="*/ 1529398 h 1773103"/>
                  <a:gd name="csX4" fmla="*/ 5054379 w 5054379"/>
                  <a:gd name="csY4" fmla="*/ 1773103 h 1773103"/>
                  <a:gd name="csX0" fmla="*/ 0 w 5016279"/>
                  <a:gd name="csY0" fmla="*/ 1729419 h 1739456"/>
                  <a:gd name="csX1" fmla="*/ 1231094 w 5016279"/>
                  <a:gd name="csY1" fmla="*/ 1545582 h 1739456"/>
                  <a:gd name="csX2" fmla="*/ 2389132 w 5016279"/>
                  <a:gd name="csY2" fmla="*/ 4 h 1739456"/>
                  <a:gd name="csX3" fmla="*/ 3593969 w 5016279"/>
                  <a:gd name="csY3" fmla="*/ 1529398 h 1739456"/>
                  <a:gd name="csX4" fmla="*/ 5016279 w 5016279"/>
                  <a:gd name="csY4" fmla="*/ 1719763 h 1739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016279" h="1739456">
                    <a:moveTo>
                      <a:pt x="0" y="1729419"/>
                    </a:moveTo>
                    <a:cubicBezTo>
                      <a:pt x="4046" y="1730768"/>
                      <a:pt x="1009912" y="1801830"/>
                      <a:pt x="1231094" y="1545582"/>
                    </a:cubicBezTo>
                    <a:cubicBezTo>
                      <a:pt x="1452276" y="1289334"/>
                      <a:pt x="1995320" y="2701"/>
                      <a:pt x="2389132" y="4"/>
                    </a:cubicBezTo>
                    <a:cubicBezTo>
                      <a:pt x="2782944" y="-2693"/>
                      <a:pt x="3185321" y="1231342"/>
                      <a:pt x="3593969" y="1529398"/>
                    </a:cubicBezTo>
                    <a:cubicBezTo>
                      <a:pt x="4002617" y="1827454"/>
                      <a:pt x="4733058" y="1673908"/>
                      <a:pt x="5016279" y="1719763"/>
                    </a:cubicBezTo>
                  </a:path>
                </a:pathLst>
              </a:custGeom>
              <a:ln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CB067E1-0415-00D0-34CF-5AC7FB142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28360" y="708660"/>
                <a:ext cx="0" cy="2712720"/>
              </a:xfrm>
              <a:prstGeom prst="straightConnector1">
                <a:avLst/>
              </a:prstGeom>
              <a:ln w="12700">
                <a:solidFill>
                  <a:srgbClr val="007CA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2481775-2100-4C59-09C2-FE593A273A7D}"/>
                  </a:ext>
                </a:extLst>
              </p:cNvPr>
              <p:cNvCxnSpPr/>
              <p:nvPr/>
            </p:nvCxnSpPr>
            <p:spPr>
              <a:xfrm>
                <a:off x="5951220" y="3429000"/>
                <a:ext cx="5501640" cy="0"/>
              </a:xfrm>
              <a:prstGeom prst="straightConnector1">
                <a:avLst/>
              </a:prstGeom>
              <a:ln w="12700">
                <a:solidFill>
                  <a:srgbClr val="007CA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2C18DAB-3B05-52AE-CF79-124E33F2C04A}"/>
                </a:ext>
              </a:extLst>
            </p:cNvPr>
            <p:cNvCxnSpPr/>
            <p:nvPr/>
          </p:nvCxnSpPr>
          <p:spPr>
            <a:xfrm>
              <a:off x="5951220" y="3916680"/>
              <a:ext cx="5501640" cy="0"/>
            </a:xfrm>
            <a:prstGeom prst="straightConnector1">
              <a:avLst/>
            </a:prstGeom>
            <a:ln w="12700">
              <a:solidFill>
                <a:srgbClr val="007CA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8943883-FB09-AD75-D864-46C3B47AE270}"/>
                </a:ext>
              </a:extLst>
            </p:cNvPr>
            <p:cNvSpPr/>
            <p:nvPr/>
          </p:nvSpPr>
          <p:spPr>
            <a:xfrm>
              <a:off x="7863840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FCD44DB-9E02-FE78-B72D-EE965B7EB0D3}"/>
                </a:ext>
              </a:extLst>
            </p:cNvPr>
            <p:cNvSpPr/>
            <p:nvPr/>
          </p:nvSpPr>
          <p:spPr>
            <a:xfrm>
              <a:off x="8528857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5D90FAF-90C3-2900-5E79-90DAFB5E5205}"/>
                </a:ext>
              </a:extLst>
            </p:cNvPr>
            <p:cNvSpPr/>
            <p:nvPr/>
          </p:nvSpPr>
          <p:spPr>
            <a:xfrm>
              <a:off x="9325841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097C889-7DEC-6E04-2C44-090CFE47D01E}"/>
                </a:ext>
              </a:extLst>
            </p:cNvPr>
            <p:cNvSpPr/>
            <p:nvPr/>
          </p:nvSpPr>
          <p:spPr>
            <a:xfrm>
              <a:off x="8262332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B88E19E-FFE0-F170-0CD8-03CAAF05DA14}"/>
                </a:ext>
              </a:extLst>
            </p:cNvPr>
            <p:cNvSpPr/>
            <p:nvPr/>
          </p:nvSpPr>
          <p:spPr>
            <a:xfrm>
              <a:off x="8745852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6E792B-870F-865D-6322-CF3046AA1FC5}"/>
                </a:ext>
              </a:extLst>
            </p:cNvPr>
            <p:cNvSpPr/>
            <p:nvPr/>
          </p:nvSpPr>
          <p:spPr>
            <a:xfrm>
              <a:off x="7498080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834A587-3096-CD05-0766-786CABE471E5}"/>
                </a:ext>
              </a:extLst>
            </p:cNvPr>
            <p:cNvSpPr/>
            <p:nvPr/>
          </p:nvSpPr>
          <p:spPr>
            <a:xfrm>
              <a:off x="8163097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5908E10-2F8D-5040-599F-CA24D9B8391A}"/>
                </a:ext>
              </a:extLst>
            </p:cNvPr>
            <p:cNvSpPr/>
            <p:nvPr/>
          </p:nvSpPr>
          <p:spPr>
            <a:xfrm>
              <a:off x="8579081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2C3062D-8C4D-F253-4436-638C71B09CA4}"/>
                </a:ext>
              </a:extLst>
            </p:cNvPr>
            <p:cNvSpPr/>
            <p:nvPr/>
          </p:nvSpPr>
          <p:spPr>
            <a:xfrm>
              <a:off x="7896572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2CCB5A9-763C-7AAF-B4C5-2BD8D7495486}"/>
                </a:ext>
              </a:extLst>
            </p:cNvPr>
            <p:cNvSpPr/>
            <p:nvPr/>
          </p:nvSpPr>
          <p:spPr>
            <a:xfrm>
              <a:off x="8380092" y="3867149"/>
              <a:ext cx="99059" cy="9905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>
                <a:solidFill>
                  <a:srgbClr val="FFFFFF"/>
                </a:solidFill>
                <a:latin typeface="E+H Sans" panose="020B040405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50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511B-7C48-F9D1-1817-FFBDA59B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BE7D-D295-80B2-7F66-4593EF03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(Regression)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68BA8-7BEA-02A3-A8CE-B859866DD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164474"/>
            <a:ext cx="4980750" cy="21428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Typical approach:</a:t>
            </a:r>
          </a:p>
          <a:p>
            <a:r>
              <a:rPr lang="en-US" i="1" dirty="0">
                <a:latin typeface="E+H Serif" pitchFamily="18" charset="0"/>
              </a:rPr>
              <a:t>Restrict class of functions</a:t>
            </a:r>
          </a:p>
          <a:p>
            <a:pPr algn="ctr"/>
            <a:endParaRPr lang="en-US" i="1" dirty="0">
              <a:latin typeface="E+H Serif" pitchFamily="18" charset="0"/>
            </a:endParaRPr>
          </a:p>
          <a:p>
            <a:pPr marL="0" indent="0">
              <a:buNone/>
            </a:pPr>
            <a:r>
              <a:rPr lang="en-US" dirty="0">
                <a:latin typeface="E+H Serif" pitchFamily="18" charset="0"/>
              </a:rPr>
              <a:t>Bayesian Approach</a:t>
            </a:r>
            <a:r>
              <a:rPr lang="en-US" i="1" dirty="0">
                <a:latin typeface="E+H Serif" pitchFamily="18" charset="0"/>
              </a:rPr>
              <a:t>:</a:t>
            </a:r>
          </a:p>
          <a:p>
            <a:r>
              <a:rPr lang="en-US" dirty="0"/>
              <a:t>Give a probability to EVERY POSSIBLE function. </a:t>
            </a:r>
          </a:p>
          <a:p>
            <a:r>
              <a:rPr lang="en-US" dirty="0"/>
              <a:t>Higher </a:t>
            </a:r>
            <a:r>
              <a:rPr lang="en-US" dirty="0" err="1"/>
              <a:t>propabilty</a:t>
            </a:r>
            <a:r>
              <a:rPr lang="en-US" dirty="0"/>
              <a:t> to functions that are more likely, for example because they are smoother.</a:t>
            </a:r>
          </a:p>
          <a:p>
            <a:r>
              <a:rPr lang="en-US" i="1" dirty="0"/>
              <a:t>Gives probability-density-function for functions</a:t>
            </a:r>
          </a:p>
          <a:p>
            <a:endParaRPr lang="en-US" dirty="0"/>
          </a:p>
          <a:p>
            <a:endParaRPr lang="en-US" i="1" dirty="0">
              <a:latin typeface="E+H Serif" pitchFamily="18" charset="0"/>
            </a:endParaRPr>
          </a:p>
          <a:p>
            <a:pPr marL="723900" lvl="3" indent="0">
              <a:buNone/>
            </a:pPr>
            <a:endParaRPr lang="en-US" dirty="0"/>
          </a:p>
          <a:p>
            <a:pPr marL="7239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FAFE-521B-58C9-6551-17110CA8B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B81E5-2DA6-8F65-D816-2317A195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C7DFF-C964-5D41-3A83-64C7DE79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0F4FF5-6410-F884-4A69-7353A0F33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7539" y="1459534"/>
            <a:ext cx="5953037" cy="353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0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8F57-DC56-D35D-6DAC-7D7BD2D7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4BB9-F90B-4E61-A26E-7A1ED1B9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(Regression)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ECD9-9EEF-C28A-432B-18A59153D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functions only (linear regression)</a:t>
            </a:r>
          </a:p>
          <a:p>
            <a:r>
              <a:rPr lang="en-US" dirty="0"/>
              <a:t>Polynomial regression</a:t>
            </a:r>
          </a:p>
          <a:p>
            <a:r>
              <a:rPr lang="en-US" dirty="0"/>
              <a:t>Decision Trees/ Random Forests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….</a:t>
            </a:r>
          </a:p>
          <a:p>
            <a:pPr lvl="3"/>
            <a:endParaRPr lang="en-US" dirty="0"/>
          </a:p>
          <a:p>
            <a:r>
              <a:rPr lang="en-US" dirty="0"/>
              <a:t>Give a </a:t>
            </a:r>
            <a:r>
              <a:rPr lang="en-US" dirty="0" err="1"/>
              <a:t>propability</a:t>
            </a:r>
            <a:r>
              <a:rPr lang="en-US" dirty="0"/>
              <a:t> to EVERY POSSIBLE function. Higher </a:t>
            </a:r>
            <a:r>
              <a:rPr lang="en-US" dirty="0" err="1"/>
              <a:t>propabilty</a:t>
            </a:r>
            <a:r>
              <a:rPr lang="en-US" dirty="0"/>
              <a:t> to functions that are more likely, for example because they are smoother.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r>
              <a:rPr lang="en-US" dirty="0" err="1"/>
              <a:t>Kurzes</a:t>
            </a:r>
            <a:r>
              <a:rPr lang="en-US" dirty="0"/>
              <a:t> </a:t>
            </a:r>
            <a:r>
              <a:rPr lang="en-US" dirty="0" err="1"/>
              <a:t>Beispiel</a:t>
            </a:r>
            <a:r>
              <a:rPr lang="en-US" dirty="0"/>
              <a:t> für das Fitten von </a:t>
            </a:r>
            <a:r>
              <a:rPr lang="en-US" dirty="0" err="1"/>
              <a:t>Daten</a:t>
            </a:r>
            <a:endParaRPr lang="en-US" dirty="0"/>
          </a:p>
          <a:p>
            <a:r>
              <a:rPr lang="en-US" dirty="0"/>
              <a:t>Dann </a:t>
            </a:r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seperieren</a:t>
            </a:r>
            <a:r>
              <a:rPr lang="en-US" dirty="0"/>
              <a:t> von </a:t>
            </a:r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Signalen</a:t>
            </a:r>
            <a:endParaRPr lang="en-US" dirty="0"/>
          </a:p>
          <a:p>
            <a:pPr lvl="1"/>
            <a:r>
              <a:rPr lang="en-US" dirty="0"/>
              <a:t>S = S1(t) + S2(Temp)</a:t>
            </a:r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0F2D2-268D-E069-4D9C-1E17024E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BDC9F-F6CF-10FF-FC89-B0245DDA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899E-1F9F-DC53-8984-8AEE01C9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1A78583-C75D-0587-9F72-F70A6449A633}"/>
              </a:ext>
            </a:extLst>
          </p:cNvPr>
          <p:cNvSpPr/>
          <p:nvPr/>
        </p:nvSpPr>
        <p:spPr>
          <a:xfrm>
            <a:off x="10300447" y="3657600"/>
            <a:ext cx="161365" cy="800100"/>
          </a:xfrm>
          <a:prstGeom prst="rightBrace">
            <a:avLst/>
          </a:prstGeom>
          <a:ln w="12700">
            <a:solidFill>
              <a:srgbClr val="007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B4640-D4E4-00F3-367E-AEE282868AFD}"/>
              </a:ext>
            </a:extLst>
          </p:cNvPr>
          <p:cNvSpPr txBox="1"/>
          <p:nvPr/>
        </p:nvSpPr>
        <p:spPr>
          <a:xfrm>
            <a:off x="10656794" y="3903761"/>
            <a:ext cx="9874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 err="1">
                <a:latin typeface="E+H Serif" pitchFamily="18" charset="0"/>
              </a:rPr>
              <a:t>bayesian</a:t>
            </a:r>
            <a:endParaRPr lang="en-US" sz="2000" dirty="0">
              <a:latin typeface="E+H Serif" pitchFamily="18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09F1B4D-6FB7-F9E6-1375-8579CB41842C}"/>
              </a:ext>
            </a:extLst>
          </p:cNvPr>
          <p:cNvSpPr/>
          <p:nvPr/>
        </p:nvSpPr>
        <p:spPr>
          <a:xfrm>
            <a:off x="5119814" y="1226684"/>
            <a:ext cx="324164" cy="1931043"/>
          </a:xfrm>
          <a:prstGeom prst="rightBrace">
            <a:avLst/>
          </a:prstGeom>
          <a:ln w="12700">
            <a:solidFill>
              <a:srgbClr val="007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4E430-0DDE-B3FE-FFE6-2D6F0E574243}"/>
              </a:ext>
            </a:extLst>
          </p:cNvPr>
          <p:cNvSpPr txBox="1"/>
          <p:nvPr/>
        </p:nvSpPr>
        <p:spPr>
          <a:xfrm>
            <a:off x="5742907" y="1884428"/>
            <a:ext cx="198367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i="1" dirty="0">
                <a:latin typeface="E+H Serif" pitchFamily="18" charset="0"/>
              </a:rPr>
              <a:t>Restrict class of functions</a:t>
            </a:r>
          </a:p>
        </p:txBody>
      </p:sp>
    </p:spTree>
    <p:extLst>
      <p:ext uri="{BB962C8B-B14F-4D97-AF65-F5344CB8AC3E}">
        <p14:creationId xmlns:p14="http://schemas.microsoft.com/office/powerpoint/2010/main" val="328731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2335-B4FC-0CD2-0526-8223B0A0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337F-29CA-008E-6770-392704FF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Bayesian approach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618A0-C040-AB17-D38A-3012C22D4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3"/>
            <a:endParaRPr lang="en-US" dirty="0"/>
          </a:p>
          <a:p>
            <a:pPr lvl="2"/>
            <a:r>
              <a:rPr lang="en-US" b="1" dirty="0"/>
              <a:t>Approach B:</a:t>
            </a:r>
          </a:p>
          <a:p>
            <a:pPr lvl="3"/>
            <a:r>
              <a:rPr lang="en-US" dirty="0"/>
              <a:t>Give a </a:t>
            </a:r>
            <a:r>
              <a:rPr lang="en-US" dirty="0" err="1"/>
              <a:t>propability</a:t>
            </a:r>
            <a:r>
              <a:rPr lang="en-US" dirty="0"/>
              <a:t> to EVERY POSSIBLE function. Higher </a:t>
            </a:r>
            <a:r>
              <a:rPr lang="en-US" dirty="0" err="1"/>
              <a:t>propabilty</a:t>
            </a:r>
            <a:r>
              <a:rPr lang="en-US" dirty="0"/>
              <a:t> to functions that are more likely, for example because they are smoother.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Make a prior:</a:t>
            </a:r>
          </a:p>
          <a:p>
            <a:pPr lvl="3"/>
            <a:r>
              <a:rPr lang="en-US" dirty="0"/>
              <a:t>That means, make mathematically some restrictions, which function is more likely.</a:t>
            </a:r>
          </a:p>
          <a:p>
            <a:pPr lvl="3"/>
            <a:r>
              <a:rPr lang="en-US" dirty="0"/>
              <a:t>You do that by two steps: Mean, Kernel.</a:t>
            </a:r>
          </a:p>
          <a:p>
            <a:pPr lvl="3"/>
            <a:r>
              <a:rPr lang="en-US" dirty="0"/>
              <a:t>For example, in (a): Mean = 0, Kernel = “smooth”. -&gt; assumptions before we see any data</a:t>
            </a:r>
          </a:p>
          <a:p>
            <a:pPr lvl="3"/>
            <a:endParaRPr lang="en-US" dirty="0"/>
          </a:p>
          <a:p>
            <a:pPr lvl="3"/>
            <a:r>
              <a:rPr lang="en-US" dirty="0"/>
              <a:t>Now add some data (</a:t>
            </a:r>
            <a:r>
              <a:rPr lang="en-US" dirty="0" err="1"/>
              <a:t>obersvations</a:t>
            </a:r>
            <a:r>
              <a:rPr lang="en-US"/>
              <a:t>) (b)</a:t>
            </a:r>
            <a:endParaRPr lang="en-US" dirty="0"/>
          </a:p>
          <a:p>
            <a:pPr lvl="4"/>
            <a:r>
              <a:rPr lang="es-ES" dirty="0"/>
              <a:t>D = {(x1, y1), (x2, y2)}</a:t>
            </a:r>
            <a:endParaRPr lang="en-US" dirty="0"/>
          </a:p>
          <a:p>
            <a:pPr lvl="3"/>
            <a:endParaRPr lang="en-US" dirty="0"/>
          </a:p>
          <a:p>
            <a:pPr marL="269875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CD03-9331-CBAB-C799-1EBF1660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077AF-D954-3AF4-11DF-99ED4E19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297E-FA42-EE76-02DA-5F041507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4353CE-8A1D-5BCB-B7E1-5263F1079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571" y="1820940"/>
            <a:ext cx="6632069" cy="32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3EA73F7-B531-F458-D08C-CABDBBFA6701}"/>
              </a:ext>
            </a:extLst>
          </p:cNvPr>
          <p:cNvSpPr/>
          <p:nvPr/>
        </p:nvSpPr>
        <p:spPr>
          <a:xfrm>
            <a:off x="1694329" y="1653988"/>
            <a:ext cx="6945406" cy="33953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  <a:latin typeface="E+H Sans" panose="020B0404050202020204" pitchFamily="34" charset="0"/>
              </a:rPr>
              <a:t>ML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9650B-DBCB-EBA1-D088-DB63AAC6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Gaussian Processes (GPs)?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5903B-7684-4C4E-248F-BBD11951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CF64A-C71D-EF82-329B-7B2B9C43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373F-1FC7-3B54-139F-2661FA20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8C9633B5-4A99-49A4-88F6-080C427A8252}" type="slidenum">
              <a:rPr lang="en-GB" smtClean="0"/>
              <a:t>11</a:t>
            </a:fld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5037B2-9413-4EB4-A6F3-A413685AC6DB}"/>
              </a:ext>
            </a:extLst>
          </p:cNvPr>
          <p:cNvCxnSpPr/>
          <p:nvPr/>
        </p:nvCxnSpPr>
        <p:spPr>
          <a:xfrm flipH="1">
            <a:off x="7183095" y="1896035"/>
            <a:ext cx="1869141" cy="396688"/>
          </a:xfrm>
          <a:prstGeom prst="straightConnector1">
            <a:avLst/>
          </a:prstGeom>
          <a:ln w="12700">
            <a:solidFill>
              <a:srgbClr val="007C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D147FC0-F8D1-1F76-E15B-4745044FEFB9}"/>
              </a:ext>
            </a:extLst>
          </p:cNvPr>
          <p:cNvSpPr txBox="1"/>
          <p:nvPr/>
        </p:nvSpPr>
        <p:spPr>
          <a:xfrm>
            <a:off x="9121838" y="1742146"/>
            <a:ext cx="187871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i="1" dirty="0">
                <a:latin typeface="E+H Serif" pitchFamily="18" charset="0"/>
              </a:rPr>
              <a:t>Learns from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D64495-FC6D-0FDE-C1B6-E59B9F90ABD5}"/>
              </a:ext>
            </a:extLst>
          </p:cNvPr>
          <p:cNvCxnSpPr>
            <a:cxnSpLocks/>
          </p:cNvCxnSpPr>
          <p:nvPr/>
        </p:nvCxnSpPr>
        <p:spPr>
          <a:xfrm flipH="1" flipV="1">
            <a:off x="5647984" y="4316506"/>
            <a:ext cx="2186220" cy="597335"/>
          </a:xfrm>
          <a:prstGeom prst="straightConnector1">
            <a:avLst/>
          </a:prstGeom>
          <a:ln w="12700">
            <a:solidFill>
              <a:srgbClr val="007C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A5A2E8F-EA46-B90F-D397-40F46C173629}"/>
              </a:ext>
            </a:extLst>
          </p:cNvPr>
          <p:cNvSpPr txBox="1"/>
          <p:nvPr/>
        </p:nvSpPr>
        <p:spPr>
          <a:xfrm>
            <a:off x="6871743" y="4976919"/>
            <a:ext cx="298639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 err="1">
                <a:latin typeface="E+H Serif" pitchFamily="18" charset="0"/>
              </a:rPr>
              <a:t>Propabilstic</a:t>
            </a:r>
            <a:r>
              <a:rPr lang="en-US" sz="2000" dirty="0">
                <a:latin typeface="E+H Serif" pitchFamily="18" charset="0"/>
              </a:rPr>
              <a:t> Model:</a:t>
            </a:r>
          </a:p>
          <a:p>
            <a:pPr algn="ctr"/>
            <a:r>
              <a:rPr lang="en-US" sz="2000" dirty="0">
                <a:latin typeface="E+H Serif" pitchFamily="18" charset="0"/>
              </a:rPr>
              <a:t> (Prediction + Uncertainty)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EB3F3F-E422-DE06-8337-AC9FDC392C49}"/>
              </a:ext>
            </a:extLst>
          </p:cNvPr>
          <p:cNvSpPr/>
          <p:nvPr/>
        </p:nvSpPr>
        <p:spPr>
          <a:xfrm>
            <a:off x="2097742" y="2857720"/>
            <a:ext cx="1533494" cy="867335"/>
          </a:xfrm>
          <a:prstGeom prst="ellipse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E+H Sans" panose="020B0404050202020204" pitchFamily="34" charset="0"/>
              </a:rPr>
              <a:t>NN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3CA970-3937-CD07-5619-7F4A722258DA}"/>
              </a:ext>
            </a:extLst>
          </p:cNvPr>
          <p:cNvSpPr/>
          <p:nvPr/>
        </p:nvSpPr>
        <p:spPr>
          <a:xfrm>
            <a:off x="4229100" y="3919818"/>
            <a:ext cx="1358153" cy="793376"/>
          </a:xfrm>
          <a:prstGeom prst="ellipse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E+H Sans" panose="020B0404050202020204" pitchFamily="34" charset="0"/>
              </a:rPr>
              <a:t>GP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52239E-35A7-A37C-E583-BED6CDED1FAF}"/>
              </a:ext>
            </a:extLst>
          </p:cNvPr>
          <p:cNvSpPr/>
          <p:nvPr/>
        </p:nvSpPr>
        <p:spPr>
          <a:xfrm>
            <a:off x="6427694" y="2763371"/>
            <a:ext cx="1963271" cy="852860"/>
          </a:xfrm>
          <a:prstGeom prst="ellipse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E+H Sans" panose="020B0404050202020204" pitchFamily="34" charset="0"/>
              </a:rPr>
              <a:t>Linear Regression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944783-B32B-F89B-2D45-2C978099662E}"/>
              </a:ext>
            </a:extLst>
          </p:cNvPr>
          <p:cNvSpPr/>
          <p:nvPr/>
        </p:nvSpPr>
        <p:spPr>
          <a:xfrm>
            <a:off x="4491318" y="1876617"/>
            <a:ext cx="1556406" cy="763949"/>
          </a:xfrm>
          <a:prstGeom prst="ellipse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E+H Sans" panose="020B0404050202020204" pitchFamily="34" charset="0"/>
              </a:rPr>
              <a:t>Random Forest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F1639-F9E1-5FBD-851B-FF2C1496CBA0}"/>
              </a:ext>
            </a:extLst>
          </p:cNvPr>
          <p:cNvSpPr txBox="1"/>
          <p:nvPr/>
        </p:nvSpPr>
        <p:spPr>
          <a:xfrm>
            <a:off x="6310033" y="391942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supervised learning, which is the problem of learning input-output mappings from empirical data -&gt; </a:t>
            </a:r>
            <a:r>
              <a:rPr lang="en-US" dirty="0" err="1"/>
              <a:t>Contineous</a:t>
            </a:r>
            <a:r>
              <a:rPr lang="en-US" dirty="0"/>
              <a:t> output: Regression</a:t>
            </a:r>
          </a:p>
        </p:txBody>
      </p:sp>
    </p:spTree>
    <p:extLst>
      <p:ext uri="{BB962C8B-B14F-4D97-AF65-F5344CB8AC3E}">
        <p14:creationId xmlns:p14="http://schemas.microsoft.com/office/powerpoint/2010/main" val="804469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830D-C0CB-A0A5-4BEF-06A99E1A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CD44C-843A-4A12-C74E-0803E6B1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We measure: 	y = Signal + Noise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 want:        	f(x) = True underlying curve</a:t>
            </a:r>
          </a:p>
          <a:p>
            <a:pPr lvl="1"/>
            <a:r>
              <a:rPr lang="en-US" dirty="0"/>
              <a:t>DON’T assume a fixed formular (linear, </a:t>
            </a:r>
            <a:r>
              <a:rPr lang="en-US" dirty="0" err="1"/>
              <a:t>polynomal</a:t>
            </a:r>
            <a:r>
              <a:rPr lang="en-US" dirty="0"/>
              <a:t>, …)</a:t>
            </a:r>
          </a:p>
          <a:p>
            <a:pPr lvl="1"/>
            <a:r>
              <a:rPr lang="en-US" dirty="0"/>
              <a:t>WANT most plausible curve from all possible curves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-&gt; A GP is a </a:t>
            </a:r>
            <a:r>
              <a:rPr lang="en-US" i="1" dirty="0"/>
              <a:t>distribution over curves</a:t>
            </a:r>
          </a:p>
          <a:p>
            <a:pPr marL="269875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CB511-ADAC-0AEC-3088-EF94E14E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5D064-0191-82A8-8563-D3574A59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DB9D7-C348-4227-F2AD-C7F33710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0D1BBA-9197-4553-297F-80875FD77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4" b="74544"/>
          <a:stretch>
            <a:fillRect/>
          </a:stretch>
        </p:blipFill>
        <p:spPr>
          <a:xfrm>
            <a:off x="6481483" y="1330594"/>
            <a:ext cx="5281922" cy="33003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97C801-86FC-B7E5-BDAA-ABC07702D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371" y="2671486"/>
            <a:ext cx="6632069" cy="321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43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2CBE-64FC-9F1F-A9AB-395CF24D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8A3E-5E93-288E-74EB-5811E883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E6262-334B-79DE-D92E-2B5635254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measure: 	y = Signal + Noise</a:t>
            </a:r>
          </a:p>
          <a:p>
            <a:r>
              <a:rPr lang="en-US" dirty="0"/>
              <a:t>We want:        	x = True underlying curve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96016-FB59-29D0-7BE6-0B81063A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0E0F-9807-DB96-3B3A-14C27E6A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0E9DF-D3C0-73B9-71C2-2ACB06E6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9F54D8-2C82-3C44-2B02-A42A95FAFA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1" r="261"/>
          <a:stretch>
            <a:fillRect/>
          </a:stretch>
        </p:blipFill>
        <p:spPr>
          <a:xfrm>
            <a:off x="7857565" y="1164474"/>
            <a:ext cx="2571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1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1DC5-1C9B-BBBE-4282-679810AF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a GP?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712E-A32F-DC73-BC54-2159883C3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 in prior knowledge (kernel)</a:t>
            </a:r>
          </a:p>
          <a:p>
            <a:r>
              <a:rPr lang="en-US" dirty="0"/>
              <a:t>Small to medium datasets  ( ~ 10 – 5000)</a:t>
            </a:r>
          </a:p>
          <a:p>
            <a:r>
              <a:rPr lang="en-US" dirty="0"/>
              <a:t>Often used for sensor signals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0B96D-63A5-6F05-A799-9C728851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Gaussian Processes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1B95F-1D50-0C46-6EBF-ADC65D54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Max Bergau, Timo Schirmeier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8C70-E67B-CC64-2413-297C8ADC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39E00E9-4EF9-43E3-91E8-87D0D75DB778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86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3DC1-A20D-6CA8-C76B-5A2BFCAF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4B14BF4-C61E-A69E-E400-401372AA00AB}"/>
                  </a:ext>
                </a:extLst>
              </p:cNvPr>
              <p:cNvSpPr>
                <a:spLocks noGrp="1"/>
              </p:cNvSpPr>
              <p:nvPr>
                <p:ph type="body" sz="quarter" idx="13"/>
                <p:custDataLst>
                  <p:tags r:id="rId1"/>
                </p:custDataLst>
              </p:nvPr>
            </p:nvSpPr>
            <p:spPr>
              <a:xfrm>
                <a:off x="5375939" y="1306285"/>
                <a:ext cx="5740842" cy="4278093"/>
              </a:xfrm>
              <a:ln w="38100">
                <a:solidFill>
                  <a:schemeClr val="accent5"/>
                </a:solidFill>
              </a:ln>
            </p:spPr>
            <p:txBody>
              <a:bodyPr/>
              <a:lstStyle/>
              <a:p>
                <a:pPr lvl="1"/>
                <a:r>
                  <a:rPr lang="en-US" sz="2400" b="1" dirty="0"/>
                  <a:t>Definition</a:t>
                </a:r>
              </a:p>
              <a:p>
                <a:pPr lvl="1"/>
                <a:endParaRPr lang="en-US" sz="2400" dirty="0"/>
              </a:p>
              <a:p>
                <a:r>
                  <a:rPr lang="en-US" sz="2400" dirty="0"/>
                  <a:t>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HBSI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GP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</m:t>
                        </m:r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sz="24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en-US" sz="2400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  <a:br>
                  <a:rPr lang="en-US" sz="2400" b="0" dirty="0">
                    <a:ea typeface="Cambria Math" panose="02040503050406030204" pitchFamily="18" charset="0"/>
                  </a:rPr>
                </a:br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sub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Mean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Function</m:t>
                    </m:r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𝐦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𝐏𝐫𝐨𝐜𝐞𝐬𝐬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𝐦</m:t>
                        </m:r>
                      </m:e>
                      <m:sub>
                        <m:r>
                          <a:rPr lang="en-US" b="1" i="0" dirty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𝐃𝐫𝐢𝐟𝐭</m:t>
                        </m:r>
                      </m:sub>
                    </m:sSub>
                    <m:r>
                      <a:rPr lang="en-US" b="1" i="0" dirty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b="1" i="0" dirty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008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b="1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𝐤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Kernel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ea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𝐏𝐫𝐨𝐜𝐞𝐬𝐬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  <m:r>
                          <a:rPr lang="en-US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𝐓</m:t>
                                </m:r>
                              </m:e>
                            </m:d>
                          </m:e>
                          <m:sup>
                            <m:r>
                              <a:rPr lang="en-US" b="1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𝐃𝐫𝐢𝐟𝐭</m:t>
                        </m:r>
                      </m:sub>
                    </m:sSub>
                    <m:r>
                      <a:rPr lang="en-US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</m:t>
                    </m:r>
                    <m:r>
                      <a:rPr lang="en-US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e>
                      <m:sup>
                        <m:r>
                          <a:rPr lang="en-US" b="1" i="0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00800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4B14BF4-C61E-A69E-E400-401372AA0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  <p:custDataLst>
                  <p:tags r:id="rId3"/>
                </p:custDataLst>
              </p:nvPr>
            </p:nvSpPr>
            <p:spPr>
              <a:xfrm>
                <a:off x="5375939" y="1306285"/>
                <a:ext cx="5740842" cy="4278093"/>
              </a:xfrm>
              <a:blipFill>
                <a:blip r:embed="rId4"/>
                <a:stretch>
                  <a:fillRect t="-1271"/>
                </a:stretch>
              </a:blipFill>
              <a:ln w="3810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C553A-D824-A4BE-A7C7-8DEDCBB4F2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HBSI-Link to measurement performance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A0BB6-713B-9B6C-AC30-0F908231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tool: Gaussian Processes (GP)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112B2-5BC9-43AC-8C8B-4DE4395127BE}"/>
              </a:ext>
            </a:extLst>
          </p:cNvPr>
          <p:cNvSpPr txBox="1">
            <a:spLocks/>
          </p:cNvSpPr>
          <p:nvPr/>
        </p:nvSpPr>
        <p:spPr>
          <a:xfrm>
            <a:off x="334961" y="1306286"/>
            <a:ext cx="4945561" cy="4278094"/>
          </a:xfrm>
          <a:prstGeom prst="rect">
            <a:avLst/>
          </a:prstGeom>
          <a:ln w="57150">
            <a:solidFill>
              <a:schemeClr val="accent5"/>
            </a:solidFill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latin typeface="E+H Serif" pitchFamily="18" charset="0"/>
              </a:rPr>
              <a:t>Benefits with GP</a:t>
            </a:r>
          </a:p>
          <a:p>
            <a:endParaRPr lang="en-US" sz="2400" b="1" dirty="0">
              <a:latin typeface="E+H Serif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E+H Serif" pitchFamily="18" charset="0"/>
              </a:rPr>
              <a:t>Statistical method </a:t>
            </a:r>
          </a:p>
          <a:p>
            <a:r>
              <a:rPr lang="en-US" sz="2000" dirty="0">
                <a:latin typeface="E+H Serif" pitchFamily="18" charset="0"/>
              </a:rPr>
              <a:t>      –  no training needed </a:t>
            </a:r>
          </a:p>
          <a:p>
            <a:endParaRPr lang="en-US" sz="2000" dirty="0">
              <a:latin typeface="E+H Serif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E+H Serif" pitchFamily="18" charset="0"/>
              </a:rPr>
              <a:t>No assumptions on data distribution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E+H Serif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E+H Serif" pitchFamily="18" charset="0"/>
              </a:rPr>
              <a:t>Low computational and memory requirements by optimized data selection.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E+H Serif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E+H Serif" pitchFamily="18" charset="0"/>
              </a:rPr>
              <a:t>Implementable in a Transmitter</a:t>
            </a:r>
          </a:p>
          <a:p>
            <a:endParaRPr lang="en-US" sz="2400" dirty="0" err="1">
              <a:latin typeface="E+H Serif" pitchFamily="18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AFCEC005-C838-CC86-470C-244870985F43}"/>
              </a:ext>
            </a:extLst>
          </p:cNvPr>
          <p:cNvSpPr>
            <a:spLocks/>
          </p:cNvSpPr>
          <p:nvPr/>
        </p:nvSpPr>
        <p:spPr>
          <a:xfrm>
            <a:off x="5519887" y="3209046"/>
            <a:ext cx="334813" cy="204676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21590-C0C1-AFDF-E772-F6A3DE9BE85A}"/>
              </a:ext>
            </a:extLst>
          </p:cNvPr>
          <p:cNvSpPr txBox="1">
            <a:spLocks/>
          </p:cNvSpPr>
          <p:nvPr/>
        </p:nvSpPr>
        <p:spPr>
          <a:xfrm>
            <a:off x="8153490" y="3159415"/>
            <a:ext cx="1786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E+H Serif" pitchFamily="18" charset="0"/>
              </a:rPr>
              <a:t>Additive noise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30C0AA1-B140-C469-6426-B1E93DA07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2470" y="6414450"/>
            <a:ext cx="726405" cy="21961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5F0B4F-1FE3-5A6C-7A1C-980D727604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2E86F8A5-FCEF-4218-8AAB-51A42A882BA2}" type="slidenum">
              <a:rPr lang="en-US" smtClean="0"/>
              <a:t>15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ABD29C2-4895-655B-2CF3-AF58D024AC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Ariane Gubser/RDAC</a:t>
            </a:r>
          </a:p>
        </p:txBody>
      </p:sp>
    </p:spTree>
    <p:extLst>
      <p:ext uri="{BB962C8B-B14F-4D97-AF65-F5344CB8AC3E}">
        <p14:creationId xmlns:p14="http://schemas.microsoft.com/office/powerpoint/2010/main" val="260273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3F408-B5DB-D51D-5E45-CDE096FB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4776-6507-3CAB-AC6F-0153AC34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Process consists out of three steps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1A956-CC21-54DF-8DF4-8B3E7773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HBSI-Link to measurement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BAF3CA-93D8-05BD-B924-631D5EE7FF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84430" y="1152592"/>
                <a:ext cx="278435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𝐏𝐫𝐨𝐜𝐞𝐬𝐬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1" dirty="0">
                          <a:solidFill>
                            <a:srgbClr val="0000FF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6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</m:d>
                      <m:r>
                        <a:rPr lang="en-US" sz="1600" b="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600" b="1" i="1" dirty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dirty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en-US" sz="1600" b="1" dirty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𝐃𝐫𝐢𝐟𝐭</m:t>
                          </m:r>
                        </m:sub>
                      </m:sSub>
                      <m:d>
                        <m:dPr>
                          <m:ctrlPr>
                            <a:rPr lang="en-US" sz="1600" b="1" i="1" dirty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dirty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US" sz="1600" b="1" i="1" dirty="0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1" i="1" dirty="0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solidFill>
                    <a:srgbClr val="008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BAF3CA-93D8-05BD-B924-631D5EE7F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430" y="1152592"/>
                <a:ext cx="2784352" cy="246221"/>
              </a:xfrm>
              <a:prstGeom prst="rect">
                <a:avLst/>
              </a:prstGeom>
              <a:blipFill>
                <a:blip r:embed="rId3"/>
                <a:stretch>
                  <a:fillRect l="-656" r="-875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78B271-6198-09F4-2828-C96386AC29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82490" y="1396735"/>
                <a:ext cx="4004128" cy="5233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𝐃𝐫𝐢𝐟𝐭</m:t>
                          </m:r>
                        </m:sub>
                      </m:sSub>
                      <m:d>
                        <m:dPr>
                          <m:ctrlPr>
                            <a:rPr lang="en-US" sz="1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sSub>
                        <m:sSubPr>
                          <m:ctrlPr>
                            <a:rPr lang="en-US" sz="150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i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i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SE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sz="1500" i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500" b="1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𝐭</m:t>
                              </m:r>
                            </m:e>
                            <m:sup>
                              <m:r>
                                <a:rPr lang="en-US" sz="1500" b="1" i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500" i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5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𝛂</m:t>
                      </m:r>
                      <m:func>
                        <m:funcPr>
                          <m:ctrlPr>
                            <a:rPr lang="en-US" sz="15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500" i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5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i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500" b="0" i="1" smtClean="0"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500" b="0" i="1" smtClean="0"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500" b="0" i="0" smtClean="0"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t</m:t>
                                          </m:r>
                                          <m:r>
                                            <a:rPr lang="en-US" sz="1500" b="0" i="0" smtClean="0"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500" b="0" i="1" smtClean="0"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500" b="0" i="0" smtClean="0"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t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500" b="0" i="0" smtClean="0"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500" b="0" i="0" smtClean="0"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500" i="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5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500" b="1" i="0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sz="1500" b="0" i="0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78B271-6198-09F4-2828-C96386AC2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490" y="1396735"/>
                <a:ext cx="4004128" cy="523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>
            <a:extLst>
              <a:ext uri="{FF2B5EF4-FFF2-40B4-BE49-F238E27FC236}">
                <a16:creationId xmlns:a16="http://schemas.microsoft.com/office/drawing/2014/main" id="{566CD96F-D875-9FF9-D7FC-3B9DA4C92FFF}"/>
              </a:ext>
            </a:extLst>
          </p:cNvPr>
          <p:cNvSpPr>
            <a:spLocks/>
          </p:cNvSpPr>
          <p:nvPr/>
        </p:nvSpPr>
        <p:spPr>
          <a:xfrm>
            <a:off x="3776168" y="1520487"/>
            <a:ext cx="501512" cy="28203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DED799-AB27-7555-6185-53F4463A76E8}"/>
              </a:ext>
            </a:extLst>
          </p:cNvPr>
          <p:cNvSpPr>
            <a:spLocks/>
          </p:cNvSpPr>
          <p:nvPr/>
        </p:nvSpPr>
        <p:spPr>
          <a:xfrm>
            <a:off x="6239176" y="1367668"/>
            <a:ext cx="751384" cy="3116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652FCB8-5FA6-32E1-786B-7666339C81BD}"/>
              </a:ext>
            </a:extLst>
          </p:cNvPr>
          <p:cNvGrpSpPr>
            <a:grpSpLocks/>
          </p:cNvGrpSpPr>
          <p:nvPr/>
        </p:nvGrpSpPr>
        <p:grpSpPr>
          <a:xfrm>
            <a:off x="8216471" y="1304289"/>
            <a:ext cx="2670092" cy="2329539"/>
            <a:chOff x="8683827" y="1099459"/>
            <a:chExt cx="2839953" cy="2454361"/>
          </a:xfrm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78F68E18-0EFC-690C-BFCF-ED7B597B8D8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rcRect l="2216" t="5002" r="3700" b="1550"/>
            <a:stretch/>
          </p:blipFill>
          <p:spPr>
            <a:xfrm>
              <a:off x="8683827" y="1099459"/>
              <a:ext cx="2839953" cy="2454361"/>
            </a:xfrm>
            <a:prstGeom prst="rect">
              <a:avLst/>
            </a:prstGeom>
          </p:spPr>
        </p:pic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599F42B-6A5C-AC40-F113-533644F68DC6}"/>
                </a:ext>
              </a:extLst>
            </p:cNvPr>
            <p:cNvSpPr/>
            <p:nvPr/>
          </p:nvSpPr>
          <p:spPr>
            <a:xfrm>
              <a:off x="9084860" y="1226306"/>
              <a:ext cx="2340770" cy="1454411"/>
            </a:xfrm>
            <a:custGeom>
              <a:avLst/>
              <a:gdLst>
                <a:gd name="connsiteX0" fmla="*/ 0 w 2340770"/>
                <a:gd name="connsiteY0" fmla="*/ 725324 h 1454411"/>
                <a:gd name="connsiteX1" fmla="*/ 86436 w 2340770"/>
                <a:gd name="connsiteY1" fmla="*/ 647987 h 1454411"/>
                <a:gd name="connsiteX2" fmla="*/ 204716 w 2340770"/>
                <a:gd name="connsiteY2" fmla="*/ 525157 h 1454411"/>
                <a:gd name="connsiteX3" fmla="*/ 304800 w 2340770"/>
                <a:gd name="connsiteY3" fmla="*/ 397778 h 1454411"/>
                <a:gd name="connsiteX4" fmla="*/ 427630 w 2340770"/>
                <a:gd name="connsiteY4" fmla="*/ 206709 h 1454411"/>
                <a:gd name="connsiteX5" fmla="*/ 532262 w 2340770"/>
                <a:gd name="connsiteY5" fmla="*/ 56584 h 1454411"/>
                <a:gd name="connsiteX6" fmla="*/ 595952 w 2340770"/>
                <a:gd name="connsiteY6" fmla="*/ 6542 h 1454411"/>
                <a:gd name="connsiteX7" fmla="*/ 645994 w 2340770"/>
                <a:gd name="connsiteY7" fmla="*/ 6542 h 1454411"/>
                <a:gd name="connsiteX8" fmla="*/ 691486 w 2340770"/>
                <a:gd name="connsiteY8" fmla="*/ 61133 h 1454411"/>
                <a:gd name="connsiteX9" fmla="*/ 791570 w 2340770"/>
                <a:gd name="connsiteY9" fmla="*/ 274948 h 1454411"/>
                <a:gd name="connsiteX10" fmla="*/ 850710 w 2340770"/>
                <a:gd name="connsiteY10" fmla="*/ 506960 h 1454411"/>
                <a:gd name="connsiteX11" fmla="*/ 937146 w 2340770"/>
                <a:gd name="connsiteY11" fmla="*/ 870900 h 1454411"/>
                <a:gd name="connsiteX12" fmla="*/ 1028131 w 2340770"/>
                <a:gd name="connsiteY12" fmla="*/ 1184798 h 1454411"/>
                <a:gd name="connsiteX13" fmla="*/ 1100919 w 2340770"/>
                <a:gd name="connsiteY13" fmla="*/ 1375867 h 1454411"/>
                <a:gd name="connsiteX14" fmla="*/ 1155510 w 2340770"/>
                <a:gd name="connsiteY14" fmla="*/ 1444106 h 1454411"/>
                <a:gd name="connsiteX15" fmla="*/ 1196453 w 2340770"/>
                <a:gd name="connsiteY15" fmla="*/ 1444106 h 1454411"/>
                <a:gd name="connsiteX16" fmla="*/ 1246495 w 2340770"/>
                <a:gd name="connsiteY16" fmla="*/ 1348572 h 1454411"/>
                <a:gd name="connsiteX17" fmla="*/ 1301086 w 2340770"/>
                <a:gd name="connsiteY17" fmla="*/ 1180249 h 1454411"/>
                <a:gd name="connsiteX18" fmla="*/ 1392071 w 2340770"/>
                <a:gd name="connsiteY18" fmla="*/ 825407 h 1454411"/>
                <a:gd name="connsiteX19" fmla="*/ 1487606 w 2340770"/>
                <a:gd name="connsiteY19" fmla="*/ 543354 h 1454411"/>
                <a:gd name="connsiteX20" fmla="*/ 1555844 w 2340770"/>
                <a:gd name="connsiteY20" fmla="*/ 384130 h 1454411"/>
                <a:gd name="connsiteX21" fmla="*/ 1660477 w 2340770"/>
                <a:gd name="connsiteY21" fmla="*/ 279497 h 1454411"/>
                <a:gd name="connsiteX22" fmla="*/ 1765110 w 2340770"/>
                <a:gd name="connsiteY22" fmla="*/ 215807 h 1454411"/>
                <a:gd name="connsiteX23" fmla="*/ 1865194 w 2340770"/>
                <a:gd name="connsiteY23" fmla="*/ 243103 h 1454411"/>
                <a:gd name="connsiteX24" fmla="*/ 1997122 w 2340770"/>
                <a:gd name="connsiteY24" fmla="*/ 270398 h 1454411"/>
                <a:gd name="connsiteX25" fmla="*/ 2097206 w 2340770"/>
                <a:gd name="connsiteY25" fmla="*/ 247652 h 1454411"/>
                <a:gd name="connsiteX26" fmla="*/ 2201839 w 2340770"/>
                <a:gd name="connsiteY26" fmla="*/ 179413 h 1454411"/>
                <a:gd name="connsiteX27" fmla="*/ 2260979 w 2340770"/>
                <a:gd name="connsiteY27" fmla="*/ 161216 h 1454411"/>
                <a:gd name="connsiteX28" fmla="*/ 2333767 w 2340770"/>
                <a:gd name="connsiteY28" fmla="*/ 179413 h 1454411"/>
                <a:gd name="connsiteX29" fmla="*/ 2333767 w 2340770"/>
                <a:gd name="connsiteY29" fmla="*/ 183963 h 1454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40770" h="1454411">
                  <a:moveTo>
                    <a:pt x="0" y="725324"/>
                  </a:moveTo>
                  <a:cubicBezTo>
                    <a:pt x="26158" y="703336"/>
                    <a:pt x="52317" y="681348"/>
                    <a:pt x="86436" y="647987"/>
                  </a:cubicBezTo>
                  <a:cubicBezTo>
                    <a:pt x="120555" y="614626"/>
                    <a:pt x="168322" y="566858"/>
                    <a:pt x="204716" y="525157"/>
                  </a:cubicBezTo>
                  <a:cubicBezTo>
                    <a:pt x="241110" y="483455"/>
                    <a:pt x="267648" y="450853"/>
                    <a:pt x="304800" y="397778"/>
                  </a:cubicBezTo>
                  <a:cubicBezTo>
                    <a:pt x="341952" y="344703"/>
                    <a:pt x="389720" y="263575"/>
                    <a:pt x="427630" y="206709"/>
                  </a:cubicBezTo>
                  <a:cubicBezTo>
                    <a:pt x="465540" y="149843"/>
                    <a:pt x="504208" y="89945"/>
                    <a:pt x="532262" y="56584"/>
                  </a:cubicBezTo>
                  <a:cubicBezTo>
                    <a:pt x="560316" y="23223"/>
                    <a:pt x="576997" y="14882"/>
                    <a:pt x="595952" y="6542"/>
                  </a:cubicBezTo>
                  <a:cubicBezTo>
                    <a:pt x="614907" y="-1798"/>
                    <a:pt x="630072" y="-2557"/>
                    <a:pt x="645994" y="6542"/>
                  </a:cubicBezTo>
                  <a:cubicBezTo>
                    <a:pt x="661916" y="15640"/>
                    <a:pt x="667223" y="16399"/>
                    <a:pt x="691486" y="61133"/>
                  </a:cubicBezTo>
                  <a:cubicBezTo>
                    <a:pt x="715749" y="105867"/>
                    <a:pt x="765033" y="200643"/>
                    <a:pt x="791570" y="274948"/>
                  </a:cubicBezTo>
                  <a:cubicBezTo>
                    <a:pt x="818107" y="349252"/>
                    <a:pt x="826447" y="407635"/>
                    <a:pt x="850710" y="506960"/>
                  </a:cubicBezTo>
                  <a:cubicBezTo>
                    <a:pt x="874973" y="606285"/>
                    <a:pt x="907576" y="757927"/>
                    <a:pt x="937146" y="870900"/>
                  </a:cubicBezTo>
                  <a:cubicBezTo>
                    <a:pt x="966716" y="983873"/>
                    <a:pt x="1000835" y="1100637"/>
                    <a:pt x="1028131" y="1184798"/>
                  </a:cubicBezTo>
                  <a:cubicBezTo>
                    <a:pt x="1055427" y="1268959"/>
                    <a:pt x="1079689" y="1332649"/>
                    <a:pt x="1100919" y="1375867"/>
                  </a:cubicBezTo>
                  <a:cubicBezTo>
                    <a:pt x="1122149" y="1419085"/>
                    <a:pt x="1139588" y="1432733"/>
                    <a:pt x="1155510" y="1444106"/>
                  </a:cubicBezTo>
                  <a:cubicBezTo>
                    <a:pt x="1171432" y="1455479"/>
                    <a:pt x="1181289" y="1460028"/>
                    <a:pt x="1196453" y="1444106"/>
                  </a:cubicBezTo>
                  <a:cubicBezTo>
                    <a:pt x="1211617" y="1428184"/>
                    <a:pt x="1229056" y="1392548"/>
                    <a:pt x="1246495" y="1348572"/>
                  </a:cubicBezTo>
                  <a:cubicBezTo>
                    <a:pt x="1263934" y="1304596"/>
                    <a:pt x="1276823" y="1267443"/>
                    <a:pt x="1301086" y="1180249"/>
                  </a:cubicBezTo>
                  <a:cubicBezTo>
                    <a:pt x="1325349" y="1093055"/>
                    <a:pt x="1360984" y="931556"/>
                    <a:pt x="1392071" y="825407"/>
                  </a:cubicBezTo>
                  <a:cubicBezTo>
                    <a:pt x="1423158" y="719258"/>
                    <a:pt x="1460311" y="616900"/>
                    <a:pt x="1487606" y="543354"/>
                  </a:cubicBezTo>
                  <a:cubicBezTo>
                    <a:pt x="1514901" y="469808"/>
                    <a:pt x="1527032" y="428106"/>
                    <a:pt x="1555844" y="384130"/>
                  </a:cubicBezTo>
                  <a:cubicBezTo>
                    <a:pt x="1584656" y="340154"/>
                    <a:pt x="1625599" y="307551"/>
                    <a:pt x="1660477" y="279497"/>
                  </a:cubicBezTo>
                  <a:cubicBezTo>
                    <a:pt x="1695355" y="251443"/>
                    <a:pt x="1730991" y="221873"/>
                    <a:pt x="1765110" y="215807"/>
                  </a:cubicBezTo>
                  <a:cubicBezTo>
                    <a:pt x="1799229" y="209741"/>
                    <a:pt x="1826525" y="234005"/>
                    <a:pt x="1865194" y="243103"/>
                  </a:cubicBezTo>
                  <a:cubicBezTo>
                    <a:pt x="1903863" y="252201"/>
                    <a:pt x="1958453" y="269640"/>
                    <a:pt x="1997122" y="270398"/>
                  </a:cubicBezTo>
                  <a:cubicBezTo>
                    <a:pt x="2035791" y="271156"/>
                    <a:pt x="2063087" y="262816"/>
                    <a:pt x="2097206" y="247652"/>
                  </a:cubicBezTo>
                  <a:cubicBezTo>
                    <a:pt x="2131325" y="232488"/>
                    <a:pt x="2174544" y="193819"/>
                    <a:pt x="2201839" y="179413"/>
                  </a:cubicBezTo>
                  <a:cubicBezTo>
                    <a:pt x="2229134" y="165007"/>
                    <a:pt x="2238991" y="161216"/>
                    <a:pt x="2260979" y="161216"/>
                  </a:cubicBezTo>
                  <a:cubicBezTo>
                    <a:pt x="2282967" y="161216"/>
                    <a:pt x="2333767" y="179413"/>
                    <a:pt x="2333767" y="179413"/>
                  </a:cubicBezTo>
                  <a:cubicBezTo>
                    <a:pt x="2345898" y="183204"/>
                    <a:pt x="2339832" y="183583"/>
                    <a:pt x="2333767" y="183963"/>
                  </a:cubicBezTo>
                </a:path>
              </a:pathLst>
            </a:custGeom>
            <a:ln w="28575">
              <a:solidFill>
                <a:srgbClr val="0080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1A2EA01-69F7-1A58-35DF-E304D156C63A}"/>
              </a:ext>
            </a:extLst>
          </p:cNvPr>
          <p:cNvCxnSpPr>
            <a:cxnSpLocks/>
          </p:cNvCxnSpPr>
          <p:nvPr/>
        </p:nvCxnSpPr>
        <p:spPr>
          <a:xfrm flipV="1">
            <a:off x="8209407" y="1546734"/>
            <a:ext cx="0" cy="1378902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57ADD8-6EE9-4D55-D056-A58399B0B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21054" y="1960893"/>
                <a:ext cx="3100873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1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sz="15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500" dirty="0"/>
                  <a:t> influences the period</a:t>
                </a: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57ADD8-6EE9-4D55-D056-A58399B0B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054" y="1960893"/>
                <a:ext cx="3100873" cy="323165"/>
              </a:xfrm>
              <a:prstGeom prst="rect">
                <a:avLst/>
              </a:prstGeom>
              <a:blipFill>
                <a:blip r:embed="rId6"/>
                <a:stretch>
                  <a:fillRect t="-5660"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F4332C8-6CFE-33E3-FE12-2CCA535F2E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21054" y="2259228"/>
                <a:ext cx="3454622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5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US" sz="1500" dirty="0"/>
                  <a:t> influences the amplitude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F4332C8-6CFE-33E3-FE12-2CCA535F2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054" y="2259228"/>
                <a:ext cx="3454622" cy="323165"/>
              </a:xfrm>
              <a:prstGeom prst="rect">
                <a:avLst/>
              </a:prstGeom>
              <a:blipFill>
                <a:blip r:embed="rId7"/>
                <a:stretch>
                  <a:fillRect t="-5660"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2221615-0AD2-EAD6-0450-EAE3CEC1C5DE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7559292" y="2014061"/>
                <a:ext cx="991193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m:oMathPara>
                </a14:m>
                <a:endParaRPr lang="en-US" sz="1500" b="1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2221615-0AD2-EAD6-0450-EAE3CEC1C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559292" y="2014061"/>
                <a:ext cx="991193" cy="3231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1B5E619-225B-8D1E-7EA8-C3D26D9D8B18}"/>
              </a:ext>
            </a:extLst>
          </p:cNvPr>
          <p:cNvCxnSpPr>
            <a:cxnSpLocks/>
          </p:cNvCxnSpPr>
          <p:nvPr/>
        </p:nvCxnSpPr>
        <p:spPr>
          <a:xfrm>
            <a:off x="9136543" y="1304289"/>
            <a:ext cx="11758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07FD0FF-EB7B-EF78-3E48-FDBA17F1B0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91237" y="1023515"/>
                <a:ext cx="991193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ℓ</m:t>
                      </m:r>
                    </m:oMath>
                  </m:oMathPara>
                </a14:m>
                <a:endParaRPr lang="en-US" sz="1500" b="1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07FD0FF-EB7B-EF78-3E48-FDBA17F1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237" y="1023515"/>
                <a:ext cx="991193" cy="3231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>
            <a:extLst>
              <a:ext uri="{FF2B5EF4-FFF2-40B4-BE49-F238E27FC236}">
                <a16:creationId xmlns:a16="http://schemas.microsoft.com/office/drawing/2014/main" id="{01FC973C-60EE-F93F-6BD9-C9411233137F}"/>
              </a:ext>
            </a:extLst>
          </p:cNvPr>
          <p:cNvSpPr>
            <a:spLocks/>
          </p:cNvSpPr>
          <p:nvPr/>
        </p:nvSpPr>
        <p:spPr>
          <a:xfrm>
            <a:off x="350107" y="1163577"/>
            <a:ext cx="2715552" cy="784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E+H Serif" pitchFamily="18" charset="0"/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  <a:t>Prior </a:t>
            </a:r>
            <a:b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</a:br>
            <a: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  <a:t>Assumption</a:t>
            </a:r>
          </a:p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45676C1-8B63-BA19-B120-50EFDC594542}"/>
              </a:ext>
            </a:extLst>
          </p:cNvPr>
          <p:cNvCxnSpPr>
            <a:cxnSpLocks/>
          </p:cNvCxnSpPr>
          <p:nvPr/>
        </p:nvCxnSpPr>
        <p:spPr>
          <a:xfrm>
            <a:off x="1707883" y="1948064"/>
            <a:ext cx="8756" cy="1016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7C2CB6E-1256-369E-5920-002FD9FC113C}"/>
              </a:ext>
            </a:extLst>
          </p:cNvPr>
          <p:cNvSpPr>
            <a:spLocks/>
          </p:cNvSpPr>
          <p:nvPr/>
        </p:nvSpPr>
        <p:spPr>
          <a:xfrm>
            <a:off x="345954" y="2964067"/>
            <a:ext cx="2741369" cy="8211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  <a:t>Given input data </a:t>
            </a:r>
            <a:b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</a:br>
            <a:r>
              <a:rPr lang="en-US" sz="1500" dirty="0">
                <a:solidFill>
                  <a:srgbClr val="000000"/>
                </a:solidFill>
                <a:latin typeface="E+H Serif" pitchFamily="18" charset="0"/>
              </a:rPr>
              <a:t>(Point 1 – Point N) </a:t>
            </a:r>
            <a:br>
              <a:rPr lang="en-US" sz="1500" dirty="0">
                <a:solidFill>
                  <a:srgbClr val="000000"/>
                </a:solidFill>
                <a:latin typeface="E+H Serif" pitchFamily="18" charset="0"/>
              </a:rPr>
            </a:br>
            <a:r>
              <a:rPr lang="en-US" sz="1500" dirty="0">
                <a:solidFill>
                  <a:srgbClr val="000000"/>
                </a:solidFill>
                <a:latin typeface="E+H Serif" pitchFamily="18" charset="0"/>
              </a:rPr>
              <a:t>are calculated into the kernels.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1FA5583-3B02-1B4D-0FF0-636158492DE4}"/>
              </a:ext>
            </a:extLst>
          </p:cNvPr>
          <p:cNvCxnSpPr>
            <a:cxnSpLocks/>
          </p:cNvCxnSpPr>
          <p:nvPr/>
        </p:nvCxnSpPr>
        <p:spPr>
          <a:xfrm flipH="1">
            <a:off x="1711143" y="3785180"/>
            <a:ext cx="5496" cy="973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C4B34F0-78D9-CC2E-5211-B519F879D2B7}"/>
              </a:ext>
            </a:extLst>
          </p:cNvPr>
          <p:cNvSpPr>
            <a:spLocks/>
          </p:cNvSpPr>
          <p:nvPr/>
        </p:nvSpPr>
        <p:spPr>
          <a:xfrm>
            <a:off x="334963" y="4758929"/>
            <a:ext cx="2752360" cy="9354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  <a:t>Posterior prediction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047342D-A18F-0597-FE96-74751AB4AD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2470" y="6414450"/>
            <a:ext cx="726405" cy="21961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7D67C-2EAA-F3B6-517E-1CC902C2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7FF3D234-B832-4E8A-BEF4-922255FE924B}" type="slidenum">
              <a:rPr lang="en-US" smtClean="0"/>
              <a:t>16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A7EA04-AA97-E739-39BC-430E891D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Ariane Gubser/RDAC</a:t>
            </a:r>
          </a:p>
        </p:txBody>
      </p:sp>
    </p:spTree>
    <p:extLst>
      <p:ext uri="{BB962C8B-B14F-4D97-AF65-F5344CB8AC3E}">
        <p14:creationId xmlns:p14="http://schemas.microsoft.com/office/powerpoint/2010/main" val="71942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101" grpId="0"/>
      <p:bldP spid="102" grpId="0"/>
      <p:bldP spid="103" grpId="0"/>
      <p:bldP spid="1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FF9A-435B-C4FE-6B73-91D6FC58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736EBB76-B1B3-229F-5966-4789EF810829}"/>
              </a:ext>
            </a:extLst>
          </p:cNvPr>
          <p:cNvSpPr>
            <a:spLocks/>
          </p:cNvSpPr>
          <p:nvPr/>
        </p:nvSpPr>
        <p:spPr>
          <a:xfrm>
            <a:off x="3229225" y="2418599"/>
            <a:ext cx="4431859" cy="16417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2041F56-B4C6-1756-7A12-E0AD9B9A265A}"/>
              </a:ext>
            </a:extLst>
          </p:cNvPr>
          <p:cNvSpPr>
            <a:spLocks/>
          </p:cNvSpPr>
          <p:nvPr/>
        </p:nvSpPr>
        <p:spPr>
          <a:xfrm>
            <a:off x="3239092" y="4490654"/>
            <a:ext cx="4431859" cy="1641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A347C9B-9DDE-E00A-25B3-2792C11B3E24}"/>
              </a:ext>
            </a:extLst>
          </p:cNvPr>
          <p:cNvSpPr>
            <a:spLocks/>
          </p:cNvSpPr>
          <p:nvPr/>
        </p:nvSpPr>
        <p:spPr>
          <a:xfrm>
            <a:off x="3239092" y="4093375"/>
            <a:ext cx="869223" cy="343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35C21A-CE12-60A1-907E-B862A2797B4E}"/>
              </a:ext>
            </a:extLst>
          </p:cNvPr>
          <p:cNvSpPr>
            <a:spLocks/>
          </p:cNvSpPr>
          <p:nvPr/>
        </p:nvSpPr>
        <p:spPr>
          <a:xfrm>
            <a:off x="3232162" y="2013234"/>
            <a:ext cx="582015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B098F-D5B6-7F8B-E9D3-FA33B558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Process consists out of three steps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1A245-DD1F-0A14-BAB9-D14C274E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HBSI-Link to measurement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B038B6-C179-7FC3-49F8-5F0C3CBF8A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5554" y="1175711"/>
                <a:ext cx="2715553" cy="26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𝐃𝐫𝐢𝐟𝐭</m:t>
                          </m:r>
                        </m:sub>
                      </m:sSub>
                      <m:d>
                        <m:dPr>
                          <m:ctrlPr>
                            <a:rPr lang="en-US" sz="1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0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e>
                            <m:sub>
                              <m:r>
                                <a:rPr lang="en-US" sz="1500" b="1" i="0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500" b="1" i="1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0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e>
                            <m:sub>
                              <m:r>
                                <a:rPr lang="en-US" sz="1500" b="1" i="0" smtClean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</m:e>
                      </m:d>
                      <m:r>
                        <a:rPr lang="en-US" sz="1500" b="0" i="0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150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f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500" b="0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a:rPr lang="en-US" sz="1500" b="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B038B6-C179-7FC3-49F8-5F0C3CBF8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554" y="1175711"/>
                <a:ext cx="2715553" cy="268728"/>
              </a:xfrm>
              <a:prstGeom prst="rect">
                <a:avLst/>
              </a:prstGeom>
              <a:blipFill>
                <a:blip r:embed="rId2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8486AA4-32FE-E791-3770-676DA7EF5E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2911" y="1958524"/>
                <a:ext cx="2503791" cy="389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CAA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b="1" i="0" dirty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𝐫𝐢𝐟𝐭</m:t>
                          </m:r>
                        </m:sub>
                      </m:sSub>
                      <m:r>
                        <a:rPr lang="en-US" b="1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err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de-CH" b="1" i="0" dirty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𝐃𝐫𝐢𝐟𝐭</m:t>
                          </m:r>
                        </m:sub>
                      </m:sSub>
                      <m:r>
                        <a:rPr lang="en-US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dirty="0" err="1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dirty="0" err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 err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8486AA4-32FE-E791-3770-676DA7EF5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911" y="1958524"/>
                <a:ext cx="2503791" cy="389017"/>
              </a:xfrm>
              <a:prstGeom prst="rect">
                <a:avLst/>
              </a:prstGeom>
              <a:blipFill>
                <a:blip r:embed="rId3"/>
                <a:stretch>
                  <a:fillRect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45338B-F788-F6C9-2320-1BBB1C051470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123799" y="2027601"/>
                <a:ext cx="82227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[°</m:t>
                      </m:r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45338B-F788-F6C9-2320-1BBB1C051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23799" y="2027601"/>
                <a:ext cx="822276" cy="323165"/>
              </a:xfrm>
              <a:prstGeom prst="rect">
                <a:avLst/>
              </a:prstGeom>
              <a:blipFill>
                <a:blip r:embed="rId4"/>
                <a:stretch>
                  <a:fillRect r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0F9C28-7E9A-026B-CED5-A18D4CE930F3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187610" y="3467596"/>
                <a:ext cx="76296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[°</m:t>
                      </m:r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0F9C28-7E9A-026B-CED5-A18D4CE9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87610" y="3467596"/>
                <a:ext cx="762966" cy="323165"/>
              </a:xfrm>
              <a:prstGeom prst="rect">
                <a:avLst/>
              </a:prstGeom>
              <a:blipFill>
                <a:blip r:embed="rId5"/>
                <a:stretch>
                  <a:fillRect r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68574A-1D50-0D8C-236E-002E88CC26F4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058141" y="4834648"/>
                <a:ext cx="986167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</a:rPr>
                        <m:t>HBSI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[%]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68574A-1D50-0D8C-236E-002E88CC2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58141" y="4834648"/>
                <a:ext cx="986167" cy="323165"/>
              </a:xfrm>
              <a:prstGeom prst="rect">
                <a:avLst/>
              </a:prstGeom>
              <a:blipFill>
                <a:blip r:embed="rId6"/>
                <a:stretch>
                  <a:fillRect r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696B5E0B-FE91-3C2A-6DCA-B535F7B79006}"/>
              </a:ext>
            </a:extLst>
          </p:cNvPr>
          <p:cNvSpPr>
            <a:spLocks/>
          </p:cNvSpPr>
          <p:nvPr/>
        </p:nvSpPr>
        <p:spPr>
          <a:xfrm>
            <a:off x="8732689" y="4161525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9B0D5D-E47F-ED7E-DC60-11EDE3832C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97213" y="5785472"/>
                <a:ext cx="323165" cy="204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9B0D5D-E47F-ED7E-DC60-11EDE3832C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213" y="5785472"/>
                <a:ext cx="323165" cy="204829"/>
              </a:xfrm>
              <a:prstGeom prst="rect">
                <a:avLst/>
              </a:prstGeom>
              <a:blipFill>
                <a:blip r:embed="rId7"/>
                <a:stretch>
                  <a:fillRect l="-15094" t="-2941" b="-470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C7B96A8-AE05-86A5-BF93-E6F1070DB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2198" y="1106086"/>
                <a:ext cx="3230629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𝐏𝐨𝐢𝐧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US" sz="2000" b="1" i="0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</a:rPr>
                        <m:t>HBS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C7B96A8-AE05-86A5-BF93-E6F1070DB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198" y="1106086"/>
                <a:ext cx="3230629" cy="413511"/>
              </a:xfrm>
              <a:prstGeom prst="rect">
                <a:avLst/>
              </a:prstGeom>
              <a:blipFill>
                <a:blip r:embed="rId8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7CB2727-1E27-9F1D-EE93-A927DE04534D}"/>
              </a:ext>
            </a:extLst>
          </p:cNvPr>
          <p:cNvCxnSpPr>
            <a:cxnSpLocks/>
          </p:cNvCxnSpPr>
          <p:nvPr/>
        </p:nvCxnSpPr>
        <p:spPr>
          <a:xfrm flipV="1">
            <a:off x="8889195" y="1655552"/>
            <a:ext cx="0" cy="11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8CCBB2B-F964-EC9E-01F4-D47B96B95A36}"/>
              </a:ext>
            </a:extLst>
          </p:cNvPr>
          <p:cNvCxnSpPr>
            <a:cxnSpLocks/>
          </p:cNvCxnSpPr>
          <p:nvPr/>
        </p:nvCxnSpPr>
        <p:spPr>
          <a:xfrm>
            <a:off x="8874004" y="2825725"/>
            <a:ext cx="2139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B603043-EA8C-EBCE-006E-835597B12FB1}"/>
              </a:ext>
            </a:extLst>
          </p:cNvPr>
          <p:cNvCxnSpPr>
            <a:cxnSpLocks/>
          </p:cNvCxnSpPr>
          <p:nvPr/>
        </p:nvCxnSpPr>
        <p:spPr>
          <a:xfrm flipV="1">
            <a:off x="8904384" y="2983169"/>
            <a:ext cx="0" cy="11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824223-5EA8-6393-92AF-696524E6FF66}"/>
              </a:ext>
            </a:extLst>
          </p:cNvPr>
          <p:cNvCxnSpPr>
            <a:cxnSpLocks/>
          </p:cNvCxnSpPr>
          <p:nvPr/>
        </p:nvCxnSpPr>
        <p:spPr>
          <a:xfrm>
            <a:off x="8889195" y="4153343"/>
            <a:ext cx="2139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B68F5A2-1F15-8463-891F-C719D400121E}"/>
              </a:ext>
            </a:extLst>
          </p:cNvPr>
          <p:cNvCxnSpPr>
            <a:cxnSpLocks/>
          </p:cNvCxnSpPr>
          <p:nvPr/>
        </p:nvCxnSpPr>
        <p:spPr>
          <a:xfrm flipV="1">
            <a:off x="8919573" y="4391880"/>
            <a:ext cx="0" cy="11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8D68489-5F4D-8828-D518-D239D1867EF4}"/>
              </a:ext>
            </a:extLst>
          </p:cNvPr>
          <p:cNvCxnSpPr>
            <a:cxnSpLocks/>
          </p:cNvCxnSpPr>
          <p:nvPr/>
        </p:nvCxnSpPr>
        <p:spPr>
          <a:xfrm>
            <a:off x="8904384" y="5562054"/>
            <a:ext cx="2139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00071404-960F-E52B-480A-9B1DDC1B308E}"/>
              </a:ext>
            </a:extLst>
          </p:cNvPr>
          <p:cNvSpPr>
            <a:spLocks/>
          </p:cNvSpPr>
          <p:nvPr/>
        </p:nvSpPr>
        <p:spPr>
          <a:xfrm>
            <a:off x="9090482" y="2377772"/>
            <a:ext cx="240076" cy="259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3D1FDF-843E-906F-63D7-C5875E6DC1D9}"/>
              </a:ext>
            </a:extLst>
          </p:cNvPr>
          <p:cNvSpPr>
            <a:spLocks/>
          </p:cNvSpPr>
          <p:nvPr/>
        </p:nvSpPr>
        <p:spPr>
          <a:xfrm>
            <a:off x="9501246" y="1870749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B9D34E-EFB2-3057-5489-DC968E70B555}"/>
              </a:ext>
            </a:extLst>
          </p:cNvPr>
          <p:cNvSpPr>
            <a:spLocks/>
          </p:cNvSpPr>
          <p:nvPr/>
        </p:nvSpPr>
        <p:spPr>
          <a:xfrm>
            <a:off x="10555883" y="1878402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13A424D-46C6-87A3-7DC6-D6934EC0FFFC}"/>
              </a:ext>
            </a:extLst>
          </p:cNvPr>
          <p:cNvSpPr>
            <a:spLocks/>
          </p:cNvSpPr>
          <p:nvPr/>
        </p:nvSpPr>
        <p:spPr>
          <a:xfrm>
            <a:off x="9090482" y="3602825"/>
            <a:ext cx="240076" cy="259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37DF7E-9D27-2322-D740-36778BF24A41}"/>
              </a:ext>
            </a:extLst>
          </p:cNvPr>
          <p:cNvSpPr>
            <a:spLocks/>
          </p:cNvSpPr>
          <p:nvPr/>
        </p:nvSpPr>
        <p:spPr>
          <a:xfrm>
            <a:off x="9490056" y="3288597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5E9E70-5CDC-74DF-24E6-92ECECCBAB66}"/>
              </a:ext>
            </a:extLst>
          </p:cNvPr>
          <p:cNvSpPr>
            <a:spLocks/>
          </p:cNvSpPr>
          <p:nvPr/>
        </p:nvSpPr>
        <p:spPr>
          <a:xfrm>
            <a:off x="10555883" y="3206018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499C9C0-BF97-0752-349C-25BD0B4E0E06}"/>
              </a:ext>
            </a:extLst>
          </p:cNvPr>
          <p:cNvSpPr>
            <a:spLocks/>
          </p:cNvSpPr>
          <p:nvPr/>
        </p:nvSpPr>
        <p:spPr>
          <a:xfrm>
            <a:off x="9090482" y="5089001"/>
            <a:ext cx="240076" cy="259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30958C0-8F75-D660-28BB-2E4FD72A8151}"/>
              </a:ext>
            </a:extLst>
          </p:cNvPr>
          <p:cNvSpPr>
            <a:spLocks/>
          </p:cNvSpPr>
          <p:nvPr/>
        </p:nvSpPr>
        <p:spPr>
          <a:xfrm>
            <a:off x="9501246" y="4605832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1EA9C45-3BE2-F043-F065-79705D8B1FF8}"/>
              </a:ext>
            </a:extLst>
          </p:cNvPr>
          <p:cNvSpPr>
            <a:spLocks/>
          </p:cNvSpPr>
          <p:nvPr/>
        </p:nvSpPr>
        <p:spPr>
          <a:xfrm>
            <a:off x="10555883" y="4526025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4BD9058-8EE6-E13D-E845-167D943E05B2}"/>
              </a:ext>
            </a:extLst>
          </p:cNvPr>
          <p:cNvCxnSpPr>
            <a:cxnSpLocks/>
          </p:cNvCxnSpPr>
          <p:nvPr/>
        </p:nvCxnSpPr>
        <p:spPr>
          <a:xfrm>
            <a:off x="9210518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2D00B9F-A012-2409-B70D-D0D8BFD7BB4E}"/>
              </a:ext>
            </a:extLst>
          </p:cNvPr>
          <p:cNvCxnSpPr>
            <a:cxnSpLocks/>
          </p:cNvCxnSpPr>
          <p:nvPr/>
        </p:nvCxnSpPr>
        <p:spPr>
          <a:xfrm>
            <a:off x="9633265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9648E4-BF45-5B27-DEE2-E61D1A75179F}"/>
              </a:ext>
            </a:extLst>
          </p:cNvPr>
          <p:cNvCxnSpPr>
            <a:cxnSpLocks/>
          </p:cNvCxnSpPr>
          <p:nvPr/>
        </p:nvCxnSpPr>
        <p:spPr>
          <a:xfrm>
            <a:off x="10127574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56A3027-0037-C688-E024-E4298CBD89FC}"/>
              </a:ext>
            </a:extLst>
          </p:cNvPr>
          <p:cNvCxnSpPr>
            <a:cxnSpLocks/>
          </p:cNvCxnSpPr>
          <p:nvPr/>
        </p:nvCxnSpPr>
        <p:spPr>
          <a:xfrm>
            <a:off x="10709347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246B15D-B485-A49A-973D-341B32C046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01246" y="5802972"/>
                <a:ext cx="323165" cy="204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246B15D-B485-A49A-973D-341B32C046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246" y="5802972"/>
                <a:ext cx="323165" cy="204829"/>
              </a:xfrm>
              <a:prstGeom prst="rect">
                <a:avLst/>
              </a:prstGeom>
              <a:blipFill>
                <a:blip r:embed="rId9"/>
                <a:stretch>
                  <a:fillRect l="-16981" t="-2941" b="-470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993C91E-BA23-93EA-4F25-2F9CD62297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34375" y="5783143"/>
                <a:ext cx="323165" cy="204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993C91E-BA23-93EA-4F25-2F9CD6229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375" y="5783143"/>
                <a:ext cx="323165" cy="204829"/>
              </a:xfrm>
              <a:prstGeom prst="rect">
                <a:avLst/>
              </a:prstGeom>
              <a:blipFill>
                <a:blip r:embed="rId10"/>
                <a:stretch>
                  <a:fillRect l="-20755" t="-3030" b="-484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4C65192B-F75D-9B3F-2CE4-88E2E663E4A4}"/>
              </a:ext>
            </a:extLst>
          </p:cNvPr>
          <p:cNvSpPr>
            <a:spLocks/>
          </p:cNvSpPr>
          <p:nvPr/>
        </p:nvSpPr>
        <p:spPr>
          <a:xfrm>
            <a:off x="9974088" y="5766366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7F4813F-E4D5-D243-BD42-7CAA180A9A16}"/>
              </a:ext>
            </a:extLst>
          </p:cNvPr>
          <p:cNvSpPr>
            <a:spLocks/>
          </p:cNvSpPr>
          <p:nvPr/>
        </p:nvSpPr>
        <p:spPr>
          <a:xfrm>
            <a:off x="9957382" y="4599717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17A287-4537-7C8B-35F2-F2980217065F}"/>
              </a:ext>
            </a:extLst>
          </p:cNvPr>
          <p:cNvSpPr>
            <a:spLocks/>
          </p:cNvSpPr>
          <p:nvPr/>
        </p:nvSpPr>
        <p:spPr>
          <a:xfrm>
            <a:off x="9934349" y="3250214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E5DAC2E-933A-A3E6-6ED9-911BF0C5BCC3}"/>
              </a:ext>
            </a:extLst>
          </p:cNvPr>
          <p:cNvSpPr>
            <a:spLocks/>
          </p:cNvSpPr>
          <p:nvPr/>
        </p:nvSpPr>
        <p:spPr>
          <a:xfrm>
            <a:off x="9913503" y="1876787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0" name="Table 89">
                <a:extLst>
                  <a:ext uri="{FF2B5EF4-FFF2-40B4-BE49-F238E27FC236}">
                    <a16:creationId xmlns:a16="http://schemas.microsoft.com/office/drawing/2014/main" id="{A25630D2-DA68-861F-B886-827ADAD307F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31713" y="2467224"/>
              <a:ext cx="4228714" cy="156182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87729">
                      <a:extLst>
                        <a:ext uri="{9D8B030D-6E8A-4147-A177-3AD203B41FA5}">
                          <a16:colId xmlns:a16="http://schemas.microsoft.com/office/drawing/2014/main" val="2712877206"/>
                        </a:ext>
                      </a:extLst>
                    </a:gridCol>
                    <a:gridCol w="1364955">
                      <a:extLst>
                        <a:ext uri="{9D8B030D-6E8A-4147-A177-3AD203B41FA5}">
                          <a16:colId xmlns:a16="http://schemas.microsoft.com/office/drawing/2014/main" val="3129215189"/>
                        </a:ext>
                      </a:extLst>
                    </a:gridCol>
                    <a:gridCol w="892268">
                      <a:extLst>
                        <a:ext uri="{9D8B030D-6E8A-4147-A177-3AD203B41FA5}">
                          <a16:colId xmlns:a16="http://schemas.microsoft.com/office/drawing/2014/main" val="1345942280"/>
                        </a:ext>
                      </a:extLst>
                    </a:gridCol>
                    <a:gridCol w="312599">
                      <a:extLst>
                        <a:ext uri="{9D8B030D-6E8A-4147-A177-3AD203B41FA5}">
                          <a16:colId xmlns:a16="http://schemas.microsoft.com/office/drawing/2014/main" val="2163855328"/>
                        </a:ext>
                      </a:extLst>
                    </a:gridCol>
                    <a:gridCol w="871163">
                      <a:extLst>
                        <a:ext uri="{9D8B030D-6E8A-4147-A177-3AD203B41FA5}">
                          <a16:colId xmlns:a16="http://schemas.microsoft.com/office/drawing/2014/main" val="1522171298"/>
                        </a:ext>
                      </a:extLst>
                    </a:gridCol>
                  </a:tblGrid>
                  <a:tr h="312829"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03047"/>
                      </a:ext>
                    </a:extLst>
                  </a:tr>
                  <a:tr h="297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577767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417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619345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9155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0" name="Table 89">
                <a:extLst>
                  <a:ext uri="{FF2B5EF4-FFF2-40B4-BE49-F238E27FC236}">
                    <a16:creationId xmlns:a16="http://schemas.microsoft.com/office/drawing/2014/main" id="{A25630D2-DA68-861F-B886-827ADAD307F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31713" y="2467224"/>
              <a:ext cx="4228714" cy="156182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87729">
                      <a:extLst>
                        <a:ext uri="{9D8B030D-6E8A-4147-A177-3AD203B41FA5}">
                          <a16:colId xmlns:a16="http://schemas.microsoft.com/office/drawing/2014/main" val="2712877206"/>
                        </a:ext>
                      </a:extLst>
                    </a:gridCol>
                    <a:gridCol w="1364955">
                      <a:extLst>
                        <a:ext uri="{9D8B030D-6E8A-4147-A177-3AD203B41FA5}">
                          <a16:colId xmlns:a16="http://schemas.microsoft.com/office/drawing/2014/main" val="3129215189"/>
                        </a:ext>
                      </a:extLst>
                    </a:gridCol>
                    <a:gridCol w="892268">
                      <a:extLst>
                        <a:ext uri="{9D8B030D-6E8A-4147-A177-3AD203B41FA5}">
                          <a16:colId xmlns:a16="http://schemas.microsoft.com/office/drawing/2014/main" val="1345942280"/>
                        </a:ext>
                      </a:extLst>
                    </a:gridCol>
                    <a:gridCol w="312599">
                      <a:extLst>
                        <a:ext uri="{9D8B030D-6E8A-4147-A177-3AD203B41FA5}">
                          <a16:colId xmlns:a16="http://schemas.microsoft.com/office/drawing/2014/main" val="2163855328"/>
                        </a:ext>
                      </a:extLst>
                    </a:gridCol>
                    <a:gridCol w="871163">
                      <a:extLst>
                        <a:ext uri="{9D8B030D-6E8A-4147-A177-3AD203B41FA5}">
                          <a16:colId xmlns:a16="http://schemas.microsoft.com/office/drawing/2014/main" val="1522171298"/>
                        </a:ext>
                      </a:extLst>
                    </a:gridCol>
                  </a:tblGrid>
                  <a:tr h="312829"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57778" t="-1961" r="-152444" b="-4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43151" t="-1961" r="-134932" b="-4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386713" t="-1961" r="-1399" b="-409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03047"/>
                      </a:ext>
                    </a:extLst>
                  </a:tr>
                  <a:tr h="297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775" t="-106122" r="-440310" b="-3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57778" t="-106122" r="-152444" b="-3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43151" t="-106122" r="-134932" b="-3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386713" t="-106122" r="-1399" b="-326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577767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775" t="-206122" r="-440310" b="-2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57778" t="-206122" r="-152444" b="-2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386713" t="-206122" r="-1399" b="-226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417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619345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775" t="-316129" r="-440310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57778" t="-316129" r="-152444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43151" t="-316129" r="-134932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386713" t="-316129" r="-1399" b="-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9155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2" name="Table 91">
                <a:extLst>
                  <a:ext uri="{FF2B5EF4-FFF2-40B4-BE49-F238E27FC236}">
                    <a16:creationId xmlns:a16="http://schemas.microsoft.com/office/drawing/2014/main" id="{257A06D6-6D5E-B61B-5F57-3C2DE1C986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35805" y="4537139"/>
              <a:ext cx="4228714" cy="15406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1493">
                      <a:extLst>
                        <a:ext uri="{9D8B030D-6E8A-4147-A177-3AD203B41FA5}">
                          <a16:colId xmlns:a16="http://schemas.microsoft.com/office/drawing/2014/main" val="2712877206"/>
                        </a:ext>
                      </a:extLst>
                    </a:gridCol>
                    <a:gridCol w="1341191">
                      <a:extLst>
                        <a:ext uri="{9D8B030D-6E8A-4147-A177-3AD203B41FA5}">
                          <a16:colId xmlns:a16="http://schemas.microsoft.com/office/drawing/2014/main" val="3129215189"/>
                        </a:ext>
                      </a:extLst>
                    </a:gridCol>
                    <a:gridCol w="892268">
                      <a:extLst>
                        <a:ext uri="{9D8B030D-6E8A-4147-A177-3AD203B41FA5}">
                          <a16:colId xmlns:a16="http://schemas.microsoft.com/office/drawing/2014/main" val="1345942280"/>
                        </a:ext>
                      </a:extLst>
                    </a:gridCol>
                    <a:gridCol w="312599">
                      <a:extLst>
                        <a:ext uri="{9D8B030D-6E8A-4147-A177-3AD203B41FA5}">
                          <a16:colId xmlns:a16="http://schemas.microsoft.com/office/drawing/2014/main" val="2163855328"/>
                        </a:ext>
                      </a:extLst>
                    </a:gridCol>
                    <a:gridCol w="871163">
                      <a:extLst>
                        <a:ext uri="{9D8B030D-6E8A-4147-A177-3AD203B41FA5}">
                          <a16:colId xmlns:a16="http://schemas.microsoft.com/office/drawing/2014/main" val="1522171298"/>
                        </a:ext>
                      </a:extLst>
                    </a:gridCol>
                  </a:tblGrid>
                  <a:tr h="291607"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03047"/>
                      </a:ext>
                    </a:extLst>
                  </a:tr>
                  <a:tr h="297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577767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417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619345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0" smtClean="0">
                                        <a:latin typeface="Cambria Math" panose="02040503050406030204" pitchFamily="18" charset="0"/>
                                      </a:rPr>
                                      <m:t>𝐏𝐨𝐢𝐧𝐭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9155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2" name="Table 91">
                <a:extLst>
                  <a:ext uri="{FF2B5EF4-FFF2-40B4-BE49-F238E27FC236}">
                    <a16:creationId xmlns:a16="http://schemas.microsoft.com/office/drawing/2014/main" id="{257A06D6-6D5E-B61B-5F57-3C2DE1C986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35805" y="4537139"/>
              <a:ext cx="4228714" cy="15406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11493">
                      <a:extLst>
                        <a:ext uri="{9D8B030D-6E8A-4147-A177-3AD203B41FA5}">
                          <a16:colId xmlns:a16="http://schemas.microsoft.com/office/drawing/2014/main" val="2712877206"/>
                        </a:ext>
                      </a:extLst>
                    </a:gridCol>
                    <a:gridCol w="1341191">
                      <a:extLst>
                        <a:ext uri="{9D8B030D-6E8A-4147-A177-3AD203B41FA5}">
                          <a16:colId xmlns:a16="http://schemas.microsoft.com/office/drawing/2014/main" val="3129215189"/>
                        </a:ext>
                      </a:extLst>
                    </a:gridCol>
                    <a:gridCol w="892268">
                      <a:extLst>
                        <a:ext uri="{9D8B030D-6E8A-4147-A177-3AD203B41FA5}">
                          <a16:colId xmlns:a16="http://schemas.microsoft.com/office/drawing/2014/main" val="1345942280"/>
                        </a:ext>
                      </a:extLst>
                    </a:gridCol>
                    <a:gridCol w="312599">
                      <a:extLst>
                        <a:ext uri="{9D8B030D-6E8A-4147-A177-3AD203B41FA5}">
                          <a16:colId xmlns:a16="http://schemas.microsoft.com/office/drawing/2014/main" val="2163855328"/>
                        </a:ext>
                      </a:extLst>
                    </a:gridCol>
                    <a:gridCol w="871163">
                      <a:extLst>
                        <a:ext uri="{9D8B030D-6E8A-4147-A177-3AD203B41FA5}">
                          <a16:colId xmlns:a16="http://schemas.microsoft.com/office/drawing/2014/main" val="1522171298"/>
                        </a:ext>
                      </a:extLst>
                    </a:gridCol>
                  </a:tblGrid>
                  <a:tr h="291607"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0909" t="-2083" r="-155909" b="-4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40816" t="-2083" r="-133333" b="-4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86014" t="-2083" r="-1399" b="-4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03047"/>
                      </a:ext>
                    </a:extLst>
                  </a:tr>
                  <a:tr h="297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752" t="-100000" r="-423308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0909" t="-100000" r="-155909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40816" t="-100000" r="-133333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86014" t="-100000" r="-1399" b="-324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577767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752" t="-200000" r="-423308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0909" t="-200000" r="-155909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86014" t="-200000" r="-1399" b="-224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417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619345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752" t="-304762" r="-423308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60909" t="-304762" r="-15590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240816" t="-304762" r="-133333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86014" t="-304762" r="-1399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9155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5C7A84A-372D-E8BC-71FE-595458E32E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29658" y="4055875"/>
                <a:ext cx="3013307" cy="389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CAA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b="1" i="0" dirty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𝐫𝐨𝐜𝐞𝐬𝐬</m:t>
                          </m:r>
                        </m:sub>
                      </m:sSub>
                      <m:r>
                        <a:rPr lang="en-US" b="1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err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de-CH" b="1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US" b="1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𝐫𝐨𝐜𝐞𝐬𝐬</m:t>
                          </m:r>
                        </m:sub>
                      </m:sSub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dirty="0" err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 err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5C7A84A-372D-E8BC-71FE-595458E32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658" y="4055875"/>
                <a:ext cx="3013307" cy="389017"/>
              </a:xfrm>
              <a:prstGeom prst="rect">
                <a:avLst/>
              </a:prstGeom>
              <a:blipFill>
                <a:blip r:embed="rId13"/>
                <a:stretch>
                  <a:fillRect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85F272F-74FF-683D-FA17-9D503C7863F2}"/>
              </a:ext>
            </a:extLst>
          </p:cNvPr>
          <p:cNvSpPr>
            <a:spLocks/>
          </p:cNvSpPr>
          <p:nvPr/>
        </p:nvSpPr>
        <p:spPr>
          <a:xfrm>
            <a:off x="345243" y="1111611"/>
            <a:ext cx="2715552" cy="784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E+H Serif" pitchFamily="18" charset="0"/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  <a:t>Prior </a:t>
            </a:r>
            <a:b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</a:br>
            <a: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  <a:t>Assumption</a:t>
            </a:r>
          </a:p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DAEF90-D0CC-854E-38C7-78F3D09531EA}"/>
              </a:ext>
            </a:extLst>
          </p:cNvPr>
          <p:cNvCxnSpPr>
            <a:cxnSpLocks/>
          </p:cNvCxnSpPr>
          <p:nvPr/>
        </p:nvCxnSpPr>
        <p:spPr>
          <a:xfrm>
            <a:off x="1703019" y="1896099"/>
            <a:ext cx="13620" cy="1067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9CDA937-C7EF-3191-85C8-74F61A5B60AF}"/>
              </a:ext>
            </a:extLst>
          </p:cNvPr>
          <p:cNvSpPr>
            <a:spLocks/>
          </p:cNvSpPr>
          <p:nvPr/>
        </p:nvSpPr>
        <p:spPr>
          <a:xfrm>
            <a:off x="345954" y="2964067"/>
            <a:ext cx="2741369" cy="8211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  <a:t>Given input data </a:t>
            </a:r>
            <a:b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</a:br>
            <a:r>
              <a:rPr lang="en-US" sz="1500" dirty="0">
                <a:solidFill>
                  <a:srgbClr val="000000"/>
                </a:solidFill>
                <a:latin typeface="E+H Serif" pitchFamily="18" charset="0"/>
              </a:rPr>
              <a:t>(Point 1 – Point N) </a:t>
            </a:r>
            <a:br>
              <a:rPr lang="en-US" sz="1500" dirty="0">
                <a:solidFill>
                  <a:srgbClr val="000000"/>
                </a:solidFill>
                <a:latin typeface="E+H Serif" pitchFamily="18" charset="0"/>
              </a:rPr>
            </a:br>
            <a:r>
              <a:rPr lang="en-US" sz="1500" dirty="0">
                <a:solidFill>
                  <a:srgbClr val="000000"/>
                </a:solidFill>
                <a:latin typeface="E+H Serif" pitchFamily="18" charset="0"/>
              </a:rPr>
              <a:t>are calculated into the kernels.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513B19-E05C-519D-E949-8258D0B58FFE}"/>
              </a:ext>
            </a:extLst>
          </p:cNvPr>
          <p:cNvCxnSpPr>
            <a:cxnSpLocks/>
          </p:cNvCxnSpPr>
          <p:nvPr/>
        </p:nvCxnSpPr>
        <p:spPr>
          <a:xfrm flipH="1">
            <a:off x="1711143" y="3785180"/>
            <a:ext cx="5496" cy="973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F2AB3-6BE0-A504-8F7D-02F8A9A12203}"/>
              </a:ext>
            </a:extLst>
          </p:cNvPr>
          <p:cNvSpPr>
            <a:spLocks/>
          </p:cNvSpPr>
          <p:nvPr/>
        </p:nvSpPr>
        <p:spPr>
          <a:xfrm>
            <a:off x="334963" y="4758929"/>
            <a:ext cx="2752360" cy="9354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  <a:t>Posterior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0FC446-2E14-59EF-7376-4BC95D495D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00851" y="1500635"/>
                <a:ext cx="4639297" cy="344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rocess</m:t>
                          </m:r>
                        </m:sub>
                      </m:sSub>
                      <m:r>
                        <a:rPr lang="en-US" sz="15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5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5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5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</m:sSub>
                      <m:r>
                        <a:rPr lang="en-US" sz="15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500" b="1" i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𝐟</m:t>
                      </m:r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𝐦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𝐢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𝐦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|+|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𝐜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𝐢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𝐜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|)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0FC446-2E14-59EF-7376-4BC95D495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851" y="1500635"/>
                <a:ext cx="4639297" cy="344966"/>
              </a:xfrm>
              <a:prstGeom prst="rect">
                <a:avLst/>
              </a:prstGeom>
              <a:blipFill>
                <a:blip r:embed="rId1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ED8FD08F-E69A-AE8B-B5FE-CFDB9A398B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72470" y="6414450"/>
            <a:ext cx="726405" cy="21961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D618380-F32B-6CAA-B98A-E4DA31C4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824C5923-27F8-4FC1-945E-7E31A9EB89FC}" type="slidenum">
              <a:rPr lang="en-US" smtClean="0"/>
              <a:t>17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DAFE5BB-DA66-68AC-8EA9-5D1321CB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Ariane Gubser/RDAC</a:t>
            </a:r>
          </a:p>
        </p:txBody>
      </p:sp>
    </p:spTree>
    <p:extLst>
      <p:ext uri="{BB962C8B-B14F-4D97-AF65-F5344CB8AC3E}">
        <p14:creationId xmlns:p14="http://schemas.microsoft.com/office/powerpoint/2010/main" val="286699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5" grpId="0" animBg="1"/>
      <p:bldP spid="94" grpId="0" animBg="1"/>
      <p:bldP spid="11" grpId="0" animBg="1"/>
      <p:bldP spid="33" grpId="0"/>
      <p:bldP spid="16" grpId="0"/>
      <p:bldP spid="20" grpId="0"/>
      <p:bldP spid="21" grpId="0"/>
      <p:bldP spid="24" grpId="0" animBg="1"/>
      <p:bldP spid="27" grpId="0" animBg="1"/>
      <p:bldP spid="37" grpId="0"/>
      <p:bldP spid="60" grpId="0" animBg="1"/>
      <p:bldP spid="61" grpId="0" animBg="1"/>
      <p:bldP spid="63" grpId="0" animBg="1"/>
      <p:bldP spid="65" grpId="0" animBg="1"/>
      <p:bldP spid="66" grpId="0" animBg="1"/>
      <p:bldP spid="68" grpId="0" animBg="1"/>
      <p:bldP spid="69" grpId="0" animBg="1"/>
      <p:bldP spid="72" grpId="0" animBg="1"/>
      <p:bldP spid="74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9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866EC-C755-C008-8C29-420DB89A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63AEE78-387E-307A-6FAB-D1FA495EEA65}"/>
              </a:ext>
            </a:extLst>
          </p:cNvPr>
          <p:cNvSpPr>
            <a:spLocks/>
          </p:cNvSpPr>
          <p:nvPr/>
        </p:nvSpPr>
        <p:spPr>
          <a:xfrm>
            <a:off x="7657854" y="5648165"/>
            <a:ext cx="526292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9FC906-1511-A321-2A2F-CA09F5CCEB09}"/>
              </a:ext>
            </a:extLst>
          </p:cNvPr>
          <p:cNvSpPr>
            <a:spLocks/>
          </p:cNvSpPr>
          <p:nvPr/>
        </p:nvSpPr>
        <p:spPr>
          <a:xfrm>
            <a:off x="5507444" y="5205611"/>
            <a:ext cx="737423" cy="343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A540057-2824-570A-5074-E489BCEE86B7}"/>
              </a:ext>
            </a:extLst>
          </p:cNvPr>
          <p:cNvSpPr>
            <a:spLocks/>
          </p:cNvSpPr>
          <p:nvPr/>
        </p:nvSpPr>
        <p:spPr>
          <a:xfrm>
            <a:off x="6162660" y="5664655"/>
            <a:ext cx="737423" cy="343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0DF061-5406-1189-ACC8-87EE461652ED}"/>
              </a:ext>
            </a:extLst>
          </p:cNvPr>
          <p:cNvSpPr>
            <a:spLocks/>
          </p:cNvSpPr>
          <p:nvPr/>
        </p:nvSpPr>
        <p:spPr>
          <a:xfrm>
            <a:off x="4242738" y="5222875"/>
            <a:ext cx="526292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615780B-41A6-08AE-84DD-3B3DE3E23705}"/>
              </a:ext>
            </a:extLst>
          </p:cNvPr>
          <p:cNvSpPr>
            <a:spLocks/>
          </p:cNvSpPr>
          <p:nvPr/>
        </p:nvSpPr>
        <p:spPr>
          <a:xfrm>
            <a:off x="4838360" y="5215377"/>
            <a:ext cx="526292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A55D6D-B232-C605-C8CB-3D5020878A65}"/>
              </a:ext>
            </a:extLst>
          </p:cNvPr>
          <p:cNvSpPr>
            <a:spLocks/>
          </p:cNvSpPr>
          <p:nvPr/>
        </p:nvSpPr>
        <p:spPr>
          <a:xfrm>
            <a:off x="4228077" y="5686925"/>
            <a:ext cx="526292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4E7F5F-25C0-2EA1-2C66-9CDB1468877C}"/>
              </a:ext>
            </a:extLst>
          </p:cNvPr>
          <p:cNvSpPr>
            <a:spLocks/>
          </p:cNvSpPr>
          <p:nvPr/>
        </p:nvSpPr>
        <p:spPr>
          <a:xfrm>
            <a:off x="4872973" y="5680209"/>
            <a:ext cx="526292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2CCE9C-2A6F-089F-1864-147DD15D8B36}"/>
              </a:ext>
            </a:extLst>
          </p:cNvPr>
          <p:cNvSpPr>
            <a:spLocks/>
          </p:cNvSpPr>
          <p:nvPr/>
        </p:nvSpPr>
        <p:spPr>
          <a:xfrm>
            <a:off x="5460724" y="5673492"/>
            <a:ext cx="526292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E457BB-4E8B-4094-CC0A-752FC47917B8}"/>
              </a:ext>
            </a:extLst>
          </p:cNvPr>
          <p:cNvSpPr>
            <a:spLocks/>
          </p:cNvSpPr>
          <p:nvPr/>
        </p:nvSpPr>
        <p:spPr>
          <a:xfrm>
            <a:off x="3257978" y="5692960"/>
            <a:ext cx="636105" cy="295529"/>
          </a:xfrm>
          <a:prstGeom prst="rect">
            <a:avLst/>
          </a:prstGeom>
          <a:solidFill>
            <a:srgbClr val="B2D8B2"/>
          </a:solidFill>
          <a:ln>
            <a:solidFill>
              <a:srgbClr val="B2D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C646C1-6C58-8B2A-A0BD-3AD72AB21B5B}"/>
              </a:ext>
            </a:extLst>
          </p:cNvPr>
          <p:cNvSpPr>
            <a:spLocks/>
          </p:cNvSpPr>
          <p:nvPr/>
        </p:nvSpPr>
        <p:spPr>
          <a:xfrm>
            <a:off x="6281819" y="4778918"/>
            <a:ext cx="874553" cy="306269"/>
          </a:xfrm>
          <a:prstGeom prst="rect">
            <a:avLst/>
          </a:prstGeom>
          <a:solidFill>
            <a:srgbClr val="B2D8B2"/>
          </a:solidFill>
          <a:ln>
            <a:solidFill>
              <a:srgbClr val="B2D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B262DD-DC6C-1389-B1FA-E5930A3C1512}"/>
              </a:ext>
            </a:extLst>
          </p:cNvPr>
          <p:cNvSpPr>
            <a:spLocks/>
          </p:cNvSpPr>
          <p:nvPr/>
        </p:nvSpPr>
        <p:spPr>
          <a:xfrm>
            <a:off x="10634375" y="5059820"/>
            <a:ext cx="126116" cy="318627"/>
          </a:xfrm>
          <a:prstGeom prst="rect">
            <a:avLst/>
          </a:prstGeom>
          <a:solidFill>
            <a:srgbClr val="B2D8B2"/>
          </a:solidFill>
          <a:ln>
            <a:solidFill>
              <a:srgbClr val="B2D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A658F30-F9B0-1072-D4CB-010FB2F57297}"/>
              </a:ext>
            </a:extLst>
          </p:cNvPr>
          <p:cNvSpPr>
            <a:spLocks/>
          </p:cNvSpPr>
          <p:nvPr/>
        </p:nvSpPr>
        <p:spPr>
          <a:xfrm>
            <a:off x="3307717" y="3358576"/>
            <a:ext cx="869223" cy="343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BAFA9C-38E5-0B34-7C12-D511C8DAE0F1}"/>
              </a:ext>
            </a:extLst>
          </p:cNvPr>
          <p:cNvSpPr>
            <a:spLocks/>
          </p:cNvSpPr>
          <p:nvPr/>
        </p:nvSpPr>
        <p:spPr>
          <a:xfrm>
            <a:off x="3328416" y="2923691"/>
            <a:ext cx="582015" cy="320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08222-4FDC-33B1-F333-0A418773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Process consists out of three steps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A2852-4158-A245-AC7C-1F83B235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HBSI-Link to measurement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268605-95A3-F02F-27DF-448E8BCDA049}"/>
              </a:ext>
            </a:extLst>
          </p:cNvPr>
          <p:cNvSpPr>
            <a:spLocks/>
          </p:cNvSpPr>
          <p:nvPr/>
        </p:nvSpPr>
        <p:spPr>
          <a:xfrm>
            <a:off x="345954" y="1161063"/>
            <a:ext cx="2715552" cy="7844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E+H Serif" pitchFamily="18" charset="0"/>
            </a:endParaRPr>
          </a:p>
          <a:p>
            <a:pPr algn="ctr"/>
            <a: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  <a:t>Prior </a:t>
            </a:r>
            <a:b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</a:br>
            <a:r>
              <a:rPr lang="en-US" sz="1500" b="1" dirty="0">
                <a:solidFill>
                  <a:schemeClr val="tx1"/>
                </a:solidFill>
                <a:latin typeface="E+H Serif" pitchFamily="18" charset="0"/>
              </a:rPr>
              <a:t>Assumption</a:t>
            </a:r>
          </a:p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A283D-CF06-9211-ACF9-AABEB7BE4B91}"/>
              </a:ext>
            </a:extLst>
          </p:cNvPr>
          <p:cNvCxnSpPr>
            <a:cxnSpLocks/>
          </p:cNvCxnSpPr>
          <p:nvPr/>
        </p:nvCxnSpPr>
        <p:spPr>
          <a:xfrm>
            <a:off x="1703730" y="1945551"/>
            <a:ext cx="12909" cy="1018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CD8E1-BF60-A64D-EE9E-F7DD3C550133}"/>
              </a:ext>
            </a:extLst>
          </p:cNvPr>
          <p:cNvSpPr>
            <a:spLocks/>
          </p:cNvSpPr>
          <p:nvPr/>
        </p:nvSpPr>
        <p:spPr>
          <a:xfrm>
            <a:off x="345954" y="2964067"/>
            <a:ext cx="2741369" cy="8211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  <a:t>Given input data </a:t>
            </a:r>
            <a:b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</a:br>
            <a:r>
              <a:rPr lang="en-US" sz="1500" dirty="0">
                <a:solidFill>
                  <a:srgbClr val="000000"/>
                </a:solidFill>
                <a:latin typeface="E+H Serif" pitchFamily="18" charset="0"/>
              </a:rPr>
              <a:t>(Point 1 – Point N) </a:t>
            </a:r>
            <a:br>
              <a:rPr lang="en-US" sz="1500" dirty="0">
                <a:solidFill>
                  <a:srgbClr val="000000"/>
                </a:solidFill>
                <a:latin typeface="E+H Serif" pitchFamily="18" charset="0"/>
              </a:rPr>
            </a:br>
            <a:r>
              <a:rPr lang="en-US" sz="1500" dirty="0">
                <a:solidFill>
                  <a:srgbClr val="000000"/>
                </a:solidFill>
                <a:latin typeface="E+H Serif" pitchFamily="18" charset="0"/>
              </a:rPr>
              <a:t>are calculated into the kernels.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599126-4473-1A55-BB3F-DA056C313A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67105" y="2819293"/>
                <a:ext cx="3051664" cy="546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CAA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𝐝𝐫𝐢𝐟𝐭</m:t>
                          </m:r>
                        </m:sub>
                      </m:sSub>
                      <m:r>
                        <a:rPr lang="en-US" b="1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err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en-US" b="1" i="0" dirty="0" err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𝐝𝐫𝐢𝐟𝐭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 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dirty="0" err="1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dirty="0" err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de-CH" b="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b="0" i="0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b="0" i="0" dirty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 err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CH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599126-4473-1A55-BB3F-DA056C313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105" y="2819293"/>
                <a:ext cx="3051664" cy="546945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FB13D7-F617-E2E7-5CD9-1C6123C7E74A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123799" y="2027601"/>
                <a:ext cx="82227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[°</m:t>
                      </m:r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FB13D7-F617-E2E7-5CD9-1C6123C7E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23799" y="2027601"/>
                <a:ext cx="822276" cy="323165"/>
              </a:xfrm>
              <a:prstGeom prst="rect">
                <a:avLst/>
              </a:prstGeom>
              <a:blipFill>
                <a:blip r:embed="rId3"/>
                <a:stretch>
                  <a:fillRect r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15A0D9-C114-0D67-6265-8B25B4F4231E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187610" y="3467596"/>
                <a:ext cx="76296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[°</m:t>
                      </m:r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15A0D9-C114-0D67-6265-8B25B4F42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87610" y="3467596"/>
                <a:ext cx="762966" cy="323165"/>
              </a:xfrm>
              <a:prstGeom prst="rect">
                <a:avLst/>
              </a:prstGeom>
              <a:blipFill>
                <a:blip r:embed="rId4"/>
                <a:stretch>
                  <a:fillRect r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5BCF0C-7B59-6AE1-7A3A-2C154371D7DA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8058141" y="4834648"/>
                <a:ext cx="986167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</a:rPr>
                        <m:t>HBSI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[%]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5BCF0C-7B59-6AE1-7A3A-2C154371D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58141" y="4834648"/>
                <a:ext cx="986167" cy="323165"/>
              </a:xfrm>
              <a:prstGeom prst="rect">
                <a:avLst/>
              </a:prstGeom>
              <a:blipFill>
                <a:blip r:embed="rId5"/>
                <a:stretch>
                  <a:fillRect r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62306463-F27C-192E-463F-321DC30C86CE}"/>
              </a:ext>
            </a:extLst>
          </p:cNvPr>
          <p:cNvSpPr>
            <a:spLocks/>
          </p:cNvSpPr>
          <p:nvPr/>
        </p:nvSpPr>
        <p:spPr>
          <a:xfrm>
            <a:off x="8732689" y="4161525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08F807F-45B3-753D-EDC0-F5C37216E9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97213" y="5785472"/>
                <a:ext cx="323165" cy="204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08F807F-45B3-753D-EDC0-F5C37216E9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213" y="5785472"/>
                <a:ext cx="323165" cy="204829"/>
              </a:xfrm>
              <a:prstGeom prst="rect">
                <a:avLst/>
              </a:prstGeom>
              <a:blipFill>
                <a:blip r:embed="rId6"/>
                <a:stretch>
                  <a:fillRect l="-15094" t="-2941" b="-470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1E3FCE-39CE-6AF6-C2CD-1D180EA0A6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2198" y="1106086"/>
                <a:ext cx="3230629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𝐏𝐨𝐢𝐧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US" sz="2000" b="1" i="0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</a:rPr>
                        <m:t>HBS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1E3FCE-39CE-6AF6-C2CD-1D180EA0A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198" y="1106086"/>
                <a:ext cx="3230629" cy="413511"/>
              </a:xfrm>
              <a:prstGeom prst="rect">
                <a:avLst/>
              </a:prstGeom>
              <a:blipFill>
                <a:blip r:embed="rId7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96E60CB-8E53-B9F2-D9FC-4F43EA5B93B6}"/>
              </a:ext>
            </a:extLst>
          </p:cNvPr>
          <p:cNvCxnSpPr>
            <a:cxnSpLocks/>
          </p:cNvCxnSpPr>
          <p:nvPr/>
        </p:nvCxnSpPr>
        <p:spPr>
          <a:xfrm flipV="1">
            <a:off x="8889195" y="1655552"/>
            <a:ext cx="0" cy="11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3EF064-B2B0-71AD-6370-50002C0381FE}"/>
              </a:ext>
            </a:extLst>
          </p:cNvPr>
          <p:cNvCxnSpPr>
            <a:cxnSpLocks/>
          </p:cNvCxnSpPr>
          <p:nvPr/>
        </p:nvCxnSpPr>
        <p:spPr>
          <a:xfrm>
            <a:off x="8874004" y="2825725"/>
            <a:ext cx="2139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69D116-808C-8F2C-7EA2-38421BBA4464}"/>
              </a:ext>
            </a:extLst>
          </p:cNvPr>
          <p:cNvCxnSpPr>
            <a:cxnSpLocks/>
          </p:cNvCxnSpPr>
          <p:nvPr/>
        </p:nvCxnSpPr>
        <p:spPr>
          <a:xfrm flipV="1">
            <a:off x="8904384" y="2983169"/>
            <a:ext cx="0" cy="11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FDFC326-4881-7C1D-9415-89F1E62571C2}"/>
              </a:ext>
            </a:extLst>
          </p:cNvPr>
          <p:cNvCxnSpPr>
            <a:cxnSpLocks/>
          </p:cNvCxnSpPr>
          <p:nvPr/>
        </p:nvCxnSpPr>
        <p:spPr>
          <a:xfrm>
            <a:off x="8889195" y="4153343"/>
            <a:ext cx="2139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CC8320A-7258-548B-E026-166C948DFA34}"/>
              </a:ext>
            </a:extLst>
          </p:cNvPr>
          <p:cNvCxnSpPr>
            <a:cxnSpLocks/>
          </p:cNvCxnSpPr>
          <p:nvPr/>
        </p:nvCxnSpPr>
        <p:spPr>
          <a:xfrm flipV="1">
            <a:off x="8919573" y="4391880"/>
            <a:ext cx="0" cy="11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08ABB1-838A-8BDB-D7C1-48CB4B9C8C05}"/>
              </a:ext>
            </a:extLst>
          </p:cNvPr>
          <p:cNvCxnSpPr>
            <a:cxnSpLocks/>
          </p:cNvCxnSpPr>
          <p:nvPr/>
        </p:nvCxnSpPr>
        <p:spPr>
          <a:xfrm>
            <a:off x="8904384" y="5562054"/>
            <a:ext cx="2139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858DB1D0-A8BF-65AB-0F6A-3709A8EE35B6}"/>
              </a:ext>
            </a:extLst>
          </p:cNvPr>
          <p:cNvSpPr>
            <a:spLocks/>
          </p:cNvSpPr>
          <p:nvPr/>
        </p:nvSpPr>
        <p:spPr>
          <a:xfrm>
            <a:off x="9090482" y="2377772"/>
            <a:ext cx="240076" cy="259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525C2F-E372-4E21-90E7-5ABB2A5F6708}"/>
              </a:ext>
            </a:extLst>
          </p:cNvPr>
          <p:cNvSpPr>
            <a:spLocks/>
          </p:cNvSpPr>
          <p:nvPr/>
        </p:nvSpPr>
        <p:spPr>
          <a:xfrm>
            <a:off x="9501246" y="1870749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AFCFCC-6E1E-601F-132B-BE4D7264911E}"/>
              </a:ext>
            </a:extLst>
          </p:cNvPr>
          <p:cNvSpPr>
            <a:spLocks/>
          </p:cNvSpPr>
          <p:nvPr/>
        </p:nvSpPr>
        <p:spPr>
          <a:xfrm>
            <a:off x="10555883" y="1878402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6F576C-3136-969D-5C9B-3299E67AB155}"/>
              </a:ext>
            </a:extLst>
          </p:cNvPr>
          <p:cNvSpPr>
            <a:spLocks/>
          </p:cNvSpPr>
          <p:nvPr/>
        </p:nvSpPr>
        <p:spPr>
          <a:xfrm>
            <a:off x="9090482" y="3602825"/>
            <a:ext cx="240076" cy="259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204948-0AA8-535F-2B8B-6E30A3DE5071}"/>
              </a:ext>
            </a:extLst>
          </p:cNvPr>
          <p:cNvSpPr>
            <a:spLocks/>
          </p:cNvSpPr>
          <p:nvPr/>
        </p:nvSpPr>
        <p:spPr>
          <a:xfrm>
            <a:off x="9490056" y="3288597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486B7E-1B2E-E577-3A02-374D9860C579}"/>
              </a:ext>
            </a:extLst>
          </p:cNvPr>
          <p:cNvSpPr>
            <a:spLocks/>
          </p:cNvSpPr>
          <p:nvPr/>
        </p:nvSpPr>
        <p:spPr>
          <a:xfrm>
            <a:off x="10555883" y="3206018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77DB06-EB3F-7A7C-E1EC-1E354B564E75}"/>
              </a:ext>
            </a:extLst>
          </p:cNvPr>
          <p:cNvSpPr>
            <a:spLocks/>
          </p:cNvSpPr>
          <p:nvPr/>
        </p:nvSpPr>
        <p:spPr>
          <a:xfrm>
            <a:off x="9090482" y="5089001"/>
            <a:ext cx="240076" cy="2598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404648-E995-CA36-C32A-9F84AFE0E50A}"/>
              </a:ext>
            </a:extLst>
          </p:cNvPr>
          <p:cNvSpPr>
            <a:spLocks/>
          </p:cNvSpPr>
          <p:nvPr/>
        </p:nvSpPr>
        <p:spPr>
          <a:xfrm>
            <a:off x="9501246" y="4605832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FEED5A1-A2E4-17E3-4EFE-A3BA5D469039}"/>
              </a:ext>
            </a:extLst>
          </p:cNvPr>
          <p:cNvSpPr>
            <a:spLocks/>
          </p:cNvSpPr>
          <p:nvPr/>
        </p:nvSpPr>
        <p:spPr>
          <a:xfrm>
            <a:off x="10555883" y="4526025"/>
            <a:ext cx="240076" cy="259819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FF39957-569C-4766-AFB2-562A2CF65895}"/>
              </a:ext>
            </a:extLst>
          </p:cNvPr>
          <p:cNvCxnSpPr>
            <a:cxnSpLocks/>
          </p:cNvCxnSpPr>
          <p:nvPr/>
        </p:nvCxnSpPr>
        <p:spPr>
          <a:xfrm>
            <a:off x="9210518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83704A0-3432-CD07-9DA9-C413337FF719}"/>
              </a:ext>
            </a:extLst>
          </p:cNvPr>
          <p:cNvCxnSpPr>
            <a:cxnSpLocks/>
          </p:cNvCxnSpPr>
          <p:nvPr/>
        </p:nvCxnSpPr>
        <p:spPr>
          <a:xfrm>
            <a:off x="9633265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332E744-73B8-4005-8414-A2654448B16A}"/>
              </a:ext>
            </a:extLst>
          </p:cNvPr>
          <p:cNvCxnSpPr>
            <a:cxnSpLocks/>
          </p:cNvCxnSpPr>
          <p:nvPr/>
        </p:nvCxnSpPr>
        <p:spPr>
          <a:xfrm>
            <a:off x="10127574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3B1593-E3D5-1695-9A5A-672EF4BE0489}"/>
              </a:ext>
            </a:extLst>
          </p:cNvPr>
          <p:cNvCxnSpPr>
            <a:cxnSpLocks/>
          </p:cNvCxnSpPr>
          <p:nvPr/>
        </p:nvCxnSpPr>
        <p:spPr>
          <a:xfrm>
            <a:off x="10709347" y="5501087"/>
            <a:ext cx="0" cy="1836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9E9EC23-411B-C653-79DE-36538E7481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01246" y="5802972"/>
                <a:ext cx="323165" cy="204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9E9EC23-411B-C653-79DE-36538E748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246" y="5802972"/>
                <a:ext cx="323165" cy="204829"/>
              </a:xfrm>
              <a:prstGeom prst="rect">
                <a:avLst/>
              </a:prstGeom>
              <a:blipFill>
                <a:blip r:embed="rId8"/>
                <a:stretch>
                  <a:fillRect l="-16981" t="-2941" b="-470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F32A20B-7558-9366-5C69-6D73E5ED22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34375" y="5783143"/>
                <a:ext cx="323165" cy="204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F32A20B-7558-9366-5C69-6D73E5ED22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375" y="5783143"/>
                <a:ext cx="323165" cy="204829"/>
              </a:xfrm>
              <a:prstGeom prst="rect">
                <a:avLst/>
              </a:prstGeom>
              <a:blipFill>
                <a:blip r:embed="rId9"/>
                <a:stretch>
                  <a:fillRect l="-20755" t="-3030" b="-484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6767B4A2-D1E4-2CD2-7CD2-2D3E28D41538}"/>
              </a:ext>
            </a:extLst>
          </p:cNvPr>
          <p:cNvSpPr>
            <a:spLocks/>
          </p:cNvSpPr>
          <p:nvPr/>
        </p:nvSpPr>
        <p:spPr>
          <a:xfrm>
            <a:off x="9974088" y="5766366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DD391A3-CD68-0240-2B82-8F73FD6572BE}"/>
              </a:ext>
            </a:extLst>
          </p:cNvPr>
          <p:cNvSpPr>
            <a:spLocks/>
          </p:cNvSpPr>
          <p:nvPr/>
        </p:nvSpPr>
        <p:spPr>
          <a:xfrm>
            <a:off x="9957382" y="4599717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17B8FE9-D6B4-FEB6-CB78-F161BBFA4582}"/>
              </a:ext>
            </a:extLst>
          </p:cNvPr>
          <p:cNvSpPr>
            <a:spLocks/>
          </p:cNvSpPr>
          <p:nvPr/>
        </p:nvSpPr>
        <p:spPr>
          <a:xfrm>
            <a:off x="9934349" y="3250214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D938811-40B7-82C1-E888-FA170B91903F}"/>
              </a:ext>
            </a:extLst>
          </p:cNvPr>
          <p:cNvSpPr>
            <a:spLocks/>
          </p:cNvSpPr>
          <p:nvPr/>
        </p:nvSpPr>
        <p:spPr>
          <a:xfrm>
            <a:off x="9913503" y="1876787"/>
            <a:ext cx="323165" cy="20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E+H Serif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F3C824F-9A2B-FE47-8255-FF66C00ECC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0971" y="3250200"/>
                <a:ext cx="3205147" cy="546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07CAA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𝐩𝐫𝐨𝐜𝐞𝐬𝐬</m:t>
                          </m:r>
                        </m:sub>
                      </m:sSub>
                      <m:r>
                        <a:rPr lang="en-US" b="1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err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en-US" b="1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𝐩𝐫𝐨𝐜𝐞𝐬𝐬</m:t>
                          </m:r>
                        </m:sub>
                      </m:sSub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dirty="0" err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de-CH" b="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CH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b="0" i="0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b="0" i="0" dirty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 err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CH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F3C824F-9A2B-FE47-8255-FF66C00EC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971" y="3250200"/>
                <a:ext cx="3205147" cy="546945"/>
              </a:xfrm>
              <a:prstGeom prst="rect">
                <a:avLst/>
              </a:prstGeom>
              <a:blipFill>
                <a:blip r:embed="rId1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91568D-D245-E0CE-EF63-67ADCA0D8363}"/>
              </a:ext>
            </a:extLst>
          </p:cNvPr>
          <p:cNvCxnSpPr>
            <a:cxnSpLocks/>
          </p:cNvCxnSpPr>
          <p:nvPr/>
        </p:nvCxnSpPr>
        <p:spPr>
          <a:xfrm flipH="1">
            <a:off x="1711143" y="3785180"/>
            <a:ext cx="5496" cy="973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53F1813-D7D1-C33B-4C01-061EDCDE38E9}"/>
              </a:ext>
            </a:extLst>
          </p:cNvPr>
          <p:cNvSpPr>
            <a:spLocks/>
          </p:cNvSpPr>
          <p:nvPr/>
        </p:nvSpPr>
        <p:spPr>
          <a:xfrm>
            <a:off x="334963" y="4758929"/>
            <a:ext cx="2752360" cy="9354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E+H Serif" pitchFamily="18" charset="0"/>
              </a:rPr>
              <a:t>Posterior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67A279-6F71-F9EB-0710-CD636CAABA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9392" y="5142898"/>
                <a:ext cx="4561393" cy="411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𝐇𝐁𝐒</m:t>
                      </m:r>
                      <m:sSub>
                        <m:sSubPr>
                          <m:ctrlPr>
                            <a:rPr lang="en-US" sz="1500" b="1" i="1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de-CH" sz="1500" b="1" i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sz="1500" b="1" i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𝐫𝐢𝐟𝐭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sz="15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</a:rPr>
                            <m:t>𝐫𝐢𝐟𝐭</m:t>
                          </m:r>
                        </m:sub>
                      </m:sSub>
                      <m:sSup>
                        <m:sSup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 i="0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de-CH" sz="1500" b="1" i="0" smtClean="0">
                                      <a:latin typeface="Cambria Math" panose="02040503050406030204" pitchFamily="18" charset="0"/>
                                    </a:rPr>
                                    <m:t>𝐃</m:t>
                                  </m:r>
                                  <m:r>
                                    <a:rPr lang="en-US" sz="1500" b="1" i="0" smtClean="0">
                                      <a:latin typeface="Cambria Math" panose="02040503050406030204" pitchFamily="18" charset="0"/>
                                    </a:rPr>
                                    <m:t>𝐫𝐢𝐟𝐭</m:t>
                                  </m:r>
                                </m:sub>
                              </m:sSub>
                              <m:r>
                                <a:rPr lang="en-US" sz="15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 i="0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de-CH" sz="1500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US" sz="15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𝐫𝐨𝐜𝐞𝐬𝐬</m:t>
                                  </m:r>
                                </m:sub>
                              </m:sSub>
                              <m:r>
                                <a:rPr lang="en-US" sz="15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5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1500" b="1" i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500" b="1" i="0" smtClea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</m:d>
                        </m:e>
                        <m:sup>
                          <m:r>
                            <a:rPr lang="en-US" sz="15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5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𝐇𝐁𝐒𝐈</m:t>
                      </m:r>
                    </m:oMath>
                  </m:oMathPara>
                </a14:m>
                <a:endParaRPr lang="en-US" sz="15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67A279-6F71-F9EB-0710-CD636CAAB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392" y="5142898"/>
                <a:ext cx="4561393" cy="4118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4D79B1B-754C-543E-B59C-CDEA0D8085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6282" y="4439281"/>
                <a:ext cx="4483183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𝐇𝐁𝐒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de-CH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𝐃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𝐫𝐢𝐟𝐭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𝐇𝐁𝐒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de-CH" b="1" i="0" smtClean="0">
                                <a:latin typeface="Cambria Math" panose="02040503050406030204" pitchFamily="18" charset="0"/>
                              </a:rPr>
                              <m:t>𝐃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𝐫𝐢𝐟𝐭</m:t>
                            </m:r>
                          </m:sub>
                        </m:sSub>
                      </m: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HBSI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  <a:b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HBS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CH" b="0" i="0" dirty="0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rgbClr val="008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rift</m:t>
                                </m:r>
                              </m:sub>
                            </m:sSub>
                          </m:e>
                        </m:acc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cov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HBS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e-CH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rift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4D79B1B-754C-543E-B59C-CDEA0D808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282" y="4439281"/>
                <a:ext cx="4483183" cy="6819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58EDDB-8971-0379-4CA3-59F1BDA0A8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8508" y="5645465"/>
                <a:ext cx="5135006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smtClean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500" b="0" i="0" smtClean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rift</m:t>
                          </m:r>
                        </m:sub>
                      </m:sSub>
                      <m:r>
                        <a:rPr lang="en-US" sz="1500" b="0" i="0" smtClean="0">
                          <a:effectLst/>
                          <a:latin typeface="Cambria Math" panose="02040503050406030204" pitchFamily="18" charset="0"/>
                          <a:ea typeface="E+H Serif" panose="020204030504050204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  <m:r>
                        <a:rPr lang="en-US" sz="1500" i="0">
                          <a:effectLst/>
                          <a:latin typeface="Cambria Math" panose="02040503050406030204" pitchFamily="18" charset="0"/>
                          <a:ea typeface="E+H Serif" panose="020204030504050204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500" b="1" i="1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sz="1500" b="1" i="0" smtClean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𝐃</m:t>
                          </m:r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𝐫𝐢𝐟𝐭</m:t>
                          </m:r>
                        </m:sub>
                      </m:sSub>
                      <m:r>
                        <a:rPr lang="en-US" sz="1500" i="0">
                          <a:effectLst/>
                          <a:latin typeface="Cambria Math" panose="02040503050406030204" pitchFamily="18" charset="0"/>
                          <a:ea typeface="E+H Serif" panose="020204030504050204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500" b="1" i="1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sz="1500" b="1" i="0" smtClean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𝐃</m:t>
                          </m:r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𝐫𝐢𝐟𝐭</m:t>
                          </m:r>
                        </m:sub>
                      </m:sSub>
                      <m:sSup>
                        <m:s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500" b="1" i="1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de-CH" sz="1500" b="1" i="0" smtClean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𝐃</m:t>
                              </m:r>
                              <m:r>
                                <a:rPr lang="en-US" sz="1500" b="1" i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𝐫𝐢𝐟𝐭</m:t>
                              </m:r>
                            </m:sub>
                          </m:sSub>
                          <m: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500" b="1" i="1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1" i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de-CH" sz="1500" b="1" i="0" smtClean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𝐏</m:t>
                              </m:r>
                              <m:r>
                                <a:rPr lang="en-US" sz="1500" b="1" i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𝐫𝐨𝐜𝐞𝐬𝐬</m:t>
                              </m:r>
                            </m:sub>
                          </m:sSub>
                          <m: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500" i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1500" i="0">
                                  <a:effectLst/>
                                  <a:latin typeface="Cambria Math" panose="02040503050406030204" pitchFamily="18" charset="0"/>
                                  <a:ea typeface="E+H Serif" panose="020204030504050204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𝐈</m:t>
                          </m:r>
                          <m: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500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sz="1500" b="1" i="1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sz="1500" b="1" i="0" smtClean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𝐃</m:t>
                          </m:r>
                          <m:r>
                            <a:rPr lang="en-US" sz="1500" b="1" i="0">
                              <a:effectLst/>
                              <a:latin typeface="Cambria Math" panose="02040503050406030204" pitchFamily="18" charset="0"/>
                              <a:ea typeface="E+H Serif" panose="02020403050405020404" pitchFamily="18" charset="0"/>
                              <a:cs typeface="Times New Roman" panose="02020603050405020304" pitchFamily="18" charset="0"/>
                            </a:rPr>
                            <m:t>𝐫𝐢𝐟𝐭</m:t>
                          </m:r>
                        </m:sub>
                      </m:sSub>
                    </m:oMath>
                  </m:oMathPara>
                </a14:m>
                <a:endParaRPr lang="en-US" sz="15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58EDDB-8971-0379-4CA3-59F1BDA0A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508" y="5645465"/>
                <a:ext cx="5135006" cy="323165"/>
              </a:xfrm>
              <a:prstGeom prst="rect">
                <a:avLst/>
              </a:prstGeom>
              <a:blipFill>
                <a:blip r:embed="rId13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EDAF8CEC-F6D4-098B-E1BF-B8ECAB554375}"/>
              </a:ext>
            </a:extLst>
          </p:cNvPr>
          <p:cNvSpPr>
            <a:spLocks/>
          </p:cNvSpPr>
          <p:nvPr/>
        </p:nvSpPr>
        <p:spPr>
          <a:xfrm>
            <a:off x="10634375" y="5148631"/>
            <a:ext cx="126116" cy="170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2FBA941-BE0A-A9D1-4721-9B9F5353DF40}"/>
              </a:ext>
            </a:extLst>
          </p:cNvPr>
          <p:cNvSpPr>
            <a:spLocks/>
          </p:cNvSpPr>
          <p:nvPr/>
        </p:nvSpPr>
        <p:spPr>
          <a:xfrm>
            <a:off x="9587801" y="5013561"/>
            <a:ext cx="126116" cy="318627"/>
          </a:xfrm>
          <a:prstGeom prst="rect">
            <a:avLst/>
          </a:prstGeom>
          <a:solidFill>
            <a:srgbClr val="B2D8B2"/>
          </a:solidFill>
          <a:ln>
            <a:solidFill>
              <a:srgbClr val="B2D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DC0005D-45E5-714A-AFB5-8193E8EC6FB1}"/>
              </a:ext>
            </a:extLst>
          </p:cNvPr>
          <p:cNvSpPr>
            <a:spLocks/>
          </p:cNvSpPr>
          <p:nvPr/>
        </p:nvSpPr>
        <p:spPr>
          <a:xfrm>
            <a:off x="9587801" y="5102372"/>
            <a:ext cx="126116" cy="170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92B2FC-3AF4-4C4C-E5E9-7572E0D5D9F7}"/>
              </a:ext>
            </a:extLst>
          </p:cNvPr>
          <p:cNvSpPr>
            <a:spLocks/>
          </p:cNvSpPr>
          <p:nvPr/>
        </p:nvSpPr>
        <p:spPr>
          <a:xfrm>
            <a:off x="9129950" y="4989427"/>
            <a:ext cx="126116" cy="318627"/>
          </a:xfrm>
          <a:prstGeom prst="rect">
            <a:avLst/>
          </a:prstGeom>
          <a:solidFill>
            <a:srgbClr val="B2D8B2"/>
          </a:solidFill>
          <a:ln>
            <a:solidFill>
              <a:srgbClr val="B2D8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97BBD5-C40B-090E-EE19-1DF99383F8B0}"/>
              </a:ext>
            </a:extLst>
          </p:cNvPr>
          <p:cNvSpPr>
            <a:spLocks/>
          </p:cNvSpPr>
          <p:nvPr/>
        </p:nvSpPr>
        <p:spPr>
          <a:xfrm>
            <a:off x="9129950" y="5078238"/>
            <a:ext cx="126116" cy="170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7877C9F-9823-DD06-A8E9-8E16603D53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5554" y="1175711"/>
                <a:ext cx="2715553" cy="2687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𝐃𝐫𝐢𝐟𝐭</m:t>
                          </m:r>
                        </m:sub>
                      </m:sSub>
                      <m:d>
                        <m:dPr>
                          <m:ctrlPr>
                            <a:rPr lang="en-US" sz="1500" b="1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US" sz="1500" b="1" i="0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1500" b="0" i="0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150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 b="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f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 b="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500" b="0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500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a:rPr lang="en-US" sz="1500" b="0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5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7877C9F-9823-DD06-A8E9-8E16603D5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554" y="1175711"/>
                <a:ext cx="2715553" cy="268728"/>
              </a:xfrm>
              <a:prstGeom prst="rect">
                <a:avLst/>
              </a:prstGeom>
              <a:blipFill>
                <a:blip r:embed="rId14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E05CFB6-794E-6878-1928-C52E63FBD7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00851" y="1500635"/>
                <a:ext cx="4639297" cy="344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process</m:t>
                          </m:r>
                        </m:sub>
                      </m:sSub>
                      <m:r>
                        <a:rPr lang="en-US" sz="15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5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5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5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5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</m:sSub>
                      <m:r>
                        <a:rPr lang="en-US" sz="15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500" b="1" i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𝐟</m:t>
                      </m:r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𝐦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𝐢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𝐦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|+|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𝐜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𝐢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𝐜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500" b="1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𝐣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|)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E05CFB6-794E-6878-1928-C52E63FBD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851" y="1500635"/>
                <a:ext cx="4639297" cy="344966"/>
              </a:xfrm>
              <a:prstGeom prst="rect">
                <a:avLst/>
              </a:prstGeom>
              <a:blipFill>
                <a:blip r:embed="rId1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Left Brace 86">
            <a:extLst>
              <a:ext uri="{FF2B5EF4-FFF2-40B4-BE49-F238E27FC236}">
                <a16:creationId xmlns:a16="http://schemas.microsoft.com/office/drawing/2014/main" id="{20F77460-77E1-5739-65F8-968808A7B12D}"/>
              </a:ext>
            </a:extLst>
          </p:cNvPr>
          <p:cNvSpPr>
            <a:spLocks/>
          </p:cNvSpPr>
          <p:nvPr/>
        </p:nvSpPr>
        <p:spPr>
          <a:xfrm>
            <a:off x="3143247" y="5142254"/>
            <a:ext cx="155448" cy="914400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5B9B6CB2-2169-3F4D-594D-B058B7927B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72470" y="6414450"/>
            <a:ext cx="726405" cy="21961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2613746-12B7-3D2E-30CF-1ECBA4BF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89497CB2-B6AE-46AC-BA41-A52A9685504A}" type="slidenum">
              <a:rPr lang="en-US" smtClean="0"/>
              <a:t>18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0742874-9090-7459-1BF2-58D432A5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Ariane Gubser/RDAC</a:t>
            </a:r>
          </a:p>
        </p:txBody>
      </p:sp>
    </p:spTree>
    <p:extLst>
      <p:ext uri="{BB962C8B-B14F-4D97-AF65-F5344CB8AC3E}">
        <p14:creationId xmlns:p14="http://schemas.microsoft.com/office/powerpoint/2010/main" val="323731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0" grpId="0" animBg="1"/>
      <p:bldP spid="71" grpId="0" animBg="1"/>
      <p:bldP spid="54" grpId="0" animBg="1"/>
      <p:bldP spid="55" grpId="0" animBg="1"/>
      <p:bldP spid="57" grpId="0" animBg="1"/>
      <p:bldP spid="62" grpId="0" animBg="1"/>
      <p:bldP spid="64" grpId="0" animBg="1"/>
      <p:bldP spid="43" grpId="0" animBg="1"/>
      <p:bldP spid="45" grpId="0" animBg="1"/>
      <p:bldP spid="46" grpId="0" animBg="1"/>
      <p:bldP spid="22" grpId="0"/>
      <p:bldP spid="23" grpId="0"/>
      <p:bldP spid="36" grpId="0"/>
      <p:bldP spid="41" grpId="0" animBg="1"/>
      <p:bldP spid="47" grpId="0" animBg="1"/>
      <p:bldP spid="50" grpId="0" animBg="1"/>
      <p:bldP spid="51" grpId="0" animBg="1"/>
      <p:bldP spid="53" grpId="0" animBg="1"/>
      <p:bldP spid="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02A7B77-9826-8D93-4449-AFC2B2E6E2F7}"/>
              </a:ext>
            </a:extLst>
          </p:cNvPr>
          <p:cNvSpPr>
            <a:spLocks/>
          </p:cNvSpPr>
          <p:nvPr/>
        </p:nvSpPr>
        <p:spPr>
          <a:xfrm>
            <a:off x="2967364" y="4112479"/>
            <a:ext cx="1657200" cy="5014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F0608C-20A3-0FFC-0E21-9E1A42EE05EA}"/>
              </a:ext>
            </a:extLst>
          </p:cNvPr>
          <p:cNvSpPr>
            <a:spLocks/>
          </p:cNvSpPr>
          <p:nvPr/>
        </p:nvSpPr>
        <p:spPr>
          <a:xfrm>
            <a:off x="4858230" y="4123537"/>
            <a:ext cx="877343" cy="442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346E26-5EE7-8F95-BEF8-AB16CAC47661}"/>
              </a:ext>
            </a:extLst>
          </p:cNvPr>
          <p:cNvSpPr>
            <a:spLocks/>
          </p:cNvSpPr>
          <p:nvPr/>
        </p:nvSpPr>
        <p:spPr>
          <a:xfrm>
            <a:off x="6014752" y="4093819"/>
            <a:ext cx="1113791" cy="5014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A0CF1FE-BB5D-4A3B-6EDF-FE78C2EF94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HBSI[2028+] is the last value in the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98409"/>
                        </a:solidFill>
                        <a:latin typeface="Cambria Math" panose="02040503050406030204" pitchFamily="18" charset="0"/>
                      </a:rPr>
                      <m:t>𝐇𝐁𝐒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de-CH" b="1" i="0" dirty="0" smtClean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US" dirty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</a:rPr>
                          <m:t>𝐫𝐢𝐟𝐭</m:t>
                        </m:r>
                      </m:sub>
                    </m:sSub>
                  </m:oMath>
                </a14:m>
                <a:r>
                  <a:rPr lang="en-US" dirty="0"/>
                  <a:t> vector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A0CF1FE-BB5D-4A3B-6EDF-FE78C2EF94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40" t="-37288" b="-42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3D416-8A61-54E0-7493-61B9DBFD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HBSI-Link to measurement performance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15DC1D-8FDA-BBAD-A2DE-DB875D42C651}"/>
              </a:ext>
            </a:extLst>
          </p:cNvPr>
          <p:cNvSpPr txBox="1">
            <a:spLocks/>
          </p:cNvSpPr>
          <p:nvPr/>
        </p:nvSpPr>
        <p:spPr>
          <a:xfrm rot="16200000">
            <a:off x="91409" y="2031698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HBSI [%]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DE26961-D26A-9975-5811-4A1A56D399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948" r="49345"/>
          <a:stretch/>
        </p:blipFill>
        <p:spPr>
          <a:xfrm>
            <a:off x="7139341" y="1392613"/>
            <a:ext cx="2755024" cy="232197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BC7057C-5E72-EE13-2EFB-FF91D292D5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90" t="49948"/>
          <a:stretch/>
        </p:blipFill>
        <p:spPr>
          <a:xfrm>
            <a:off x="774830" y="1392616"/>
            <a:ext cx="2654659" cy="22788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65FDE26-D8C1-256C-2214-0B443951FEBC}"/>
              </a:ext>
            </a:extLst>
          </p:cNvPr>
          <p:cNvSpPr txBox="1">
            <a:spLocks/>
          </p:cNvSpPr>
          <p:nvPr/>
        </p:nvSpPr>
        <p:spPr>
          <a:xfrm>
            <a:off x="914193" y="3537896"/>
            <a:ext cx="25763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Data Point [#] – sampling </a:t>
            </a:r>
            <a:r>
              <a:rPr lang="en-US" sz="1200" dirty="0" err="1">
                <a:latin typeface="E+H Serif" pitchFamily="18" charset="0"/>
              </a:rPr>
              <a:t>freq</a:t>
            </a:r>
            <a:r>
              <a:rPr lang="en-US" sz="1200" dirty="0">
                <a:latin typeface="E+H Serif" pitchFamily="18" charset="0"/>
              </a:rPr>
              <a:t> = 3 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6EE5395-E846-6E74-1699-A0C3999F61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90" t="49948"/>
          <a:stretch/>
        </p:blipFill>
        <p:spPr>
          <a:xfrm>
            <a:off x="3970839" y="1392617"/>
            <a:ext cx="2654659" cy="2321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E3FB7F-6C9E-6BC2-B606-1BCC71B538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74757" y="2066859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000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E3FB7F-6C9E-6BC2-B606-1BCC71B53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7" y="2066859"/>
                <a:ext cx="37991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218CC2-1EDB-A6E1-1D0A-1CDDA5ACE6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8631" y="2068500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000" b="1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218CC2-1EDB-A6E1-1D0A-1CDDA5ACE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631" y="2068500"/>
                <a:ext cx="3799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706A55F-640F-A292-85C4-AE5E7270C036}"/>
              </a:ext>
            </a:extLst>
          </p:cNvPr>
          <p:cNvSpPr txBox="1">
            <a:spLocks/>
          </p:cNvSpPr>
          <p:nvPr/>
        </p:nvSpPr>
        <p:spPr>
          <a:xfrm>
            <a:off x="1644119" y="1169477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E+H Serif" pitchFamily="18" charset="0"/>
              </a:rPr>
              <a:t>HBSI (2021)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457C91-75E4-D202-4A4E-4BE977223C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85215" y="1142936"/>
                <a:ext cx="24418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𝐇𝐁𝐒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de-CH" sz="1200" b="1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US" sz="1200" b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𝐫𝐨𝐜𝐞𝐬𝐬</m:t>
                          </m:r>
                        </m:sub>
                      </m:sSub>
                      <m:r>
                        <a:rPr lang="en-US" sz="1200" b="1" dirty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200" b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𝐦𝐞𝐝𝐢𝐮𝐦</m:t>
                          </m:r>
                        </m:sub>
                      </m:sSub>
                      <m:r>
                        <a:rPr lang="en-US" sz="1200" b="1" dirty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1" i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200" b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𝐜𝐚𝐫𝐫𝐢𝐞𝐫</m:t>
                          </m:r>
                          <m:r>
                            <a:rPr lang="en-US" sz="1200" b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dirty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𝐭𝐮𝐛𝐞</m:t>
                          </m:r>
                        </m:sub>
                      </m:sSub>
                      <m:r>
                        <a:rPr lang="en-US" sz="1200" b="1" dirty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rgbClr val="0202FF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457C91-75E4-D202-4A4E-4BE97722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215" y="1142936"/>
                <a:ext cx="2441887" cy="276999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AB4E99-1688-5C94-F757-65896C54A4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3663" y="1173542"/>
                <a:ext cx="10342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0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𝐇𝐁𝐒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de-CH" sz="1200" b="1" i="0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sz="1200" b="1" i="0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  <m:t>𝐫𝐢𝐟𝐭</m:t>
                          </m:r>
                        </m:sub>
                      </m:sSub>
                      <m:r>
                        <a:rPr lang="en-US" sz="1200" b="1" i="0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200" b="1" i="1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rgbClr val="098409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AB4E99-1688-5C94-F757-65896C54A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63" y="1173542"/>
                <a:ext cx="1034257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>
            <a:extLst>
              <a:ext uri="{FF2B5EF4-FFF2-40B4-BE49-F238E27FC236}">
                <a16:creationId xmlns:a16="http://schemas.microsoft.com/office/drawing/2014/main" id="{0E62948E-8C95-342C-B71D-AC972D4C034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49999"/>
          <a:stretch/>
        </p:blipFill>
        <p:spPr>
          <a:xfrm>
            <a:off x="7187061" y="1442256"/>
            <a:ext cx="2723443" cy="2264674"/>
          </a:xfrm>
          <a:prstGeom prst="rect">
            <a:avLst/>
          </a:prstGeom>
        </p:spPr>
      </p:pic>
      <p:pic>
        <p:nvPicPr>
          <p:cNvPr id="51" name="Picture 5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3429C312-FA7F-AD4D-608E-8364193E1F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45" t="74996" r="41957" b="21367"/>
          <a:stretch/>
        </p:blipFill>
        <p:spPr>
          <a:xfrm>
            <a:off x="8554830" y="1669613"/>
            <a:ext cx="1289304" cy="23067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3D7E6B6-224C-D5CA-1083-E1A8D0940A7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1128" t="-2157" r="-1129" b="2157"/>
          <a:stretch/>
        </p:blipFill>
        <p:spPr>
          <a:xfrm>
            <a:off x="3991052" y="1334886"/>
            <a:ext cx="2696013" cy="2278899"/>
          </a:xfrm>
          <a:prstGeom prst="rect">
            <a:avLst/>
          </a:prstGeom>
        </p:spPr>
      </p:pic>
      <p:pic>
        <p:nvPicPr>
          <p:cNvPr id="60" name="Picture 59" descr="A close-up of a graph&#10;&#10;Description automatically generated">
            <a:extLst>
              <a:ext uri="{FF2B5EF4-FFF2-40B4-BE49-F238E27FC236}">
                <a16:creationId xmlns:a16="http://schemas.microsoft.com/office/drawing/2014/main" id="{9F91AE9E-7580-1F39-17CD-6C09BEF68A8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3" t="73116" r="16104" b="22234"/>
          <a:stretch/>
        </p:blipFill>
        <p:spPr>
          <a:xfrm>
            <a:off x="5007549" y="1622619"/>
            <a:ext cx="1456049" cy="24322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EB92089-44D8-D209-E3B4-002A5E2927D1}"/>
              </a:ext>
            </a:extLst>
          </p:cNvPr>
          <p:cNvSpPr txBox="1">
            <a:spLocks/>
          </p:cNvSpPr>
          <p:nvPr/>
        </p:nvSpPr>
        <p:spPr>
          <a:xfrm>
            <a:off x="4070539" y="3537896"/>
            <a:ext cx="25763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Data Point [#] – sampling </a:t>
            </a:r>
            <a:r>
              <a:rPr lang="en-US" sz="1200" dirty="0" err="1">
                <a:latin typeface="E+H Serif" pitchFamily="18" charset="0"/>
              </a:rPr>
              <a:t>freq</a:t>
            </a:r>
            <a:r>
              <a:rPr lang="en-US" sz="1200" dirty="0">
                <a:latin typeface="E+H Serif" pitchFamily="18" charset="0"/>
              </a:rPr>
              <a:t> = 3 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E09734-9E42-B89E-A0C3-2A6859101CA7}"/>
              </a:ext>
            </a:extLst>
          </p:cNvPr>
          <p:cNvSpPr txBox="1">
            <a:spLocks/>
          </p:cNvSpPr>
          <p:nvPr/>
        </p:nvSpPr>
        <p:spPr>
          <a:xfrm>
            <a:off x="7406211" y="3526270"/>
            <a:ext cx="25763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Data Point [#] – sampling </a:t>
            </a:r>
            <a:r>
              <a:rPr lang="en-US" sz="1200" dirty="0" err="1">
                <a:latin typeface="E+H Serif" pitchFamily="18" charset="0"/>
              </a:rPr>
              <a:t>freq</a:t>
            </a:r>
            <a:r>
              <a:rPr lang="en-US" sz="1200" dirty="0">
                <a:latin typeface="E+H Serif" pitchFamily="18" charset="0"/>
              </a:rPr>
              <a:t> = 3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0661A-7D07-459E-14FB-08A7088BF1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373191" y="3972371"/>
                <a:ext cx="10961585" cy="624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𝐇𝐁𝐒</m:t>
                      </m:r>
                      <m:sSub>
                        <m:sSubPr>
                          <m:ctrlPr>
                            <a:rPr lang="en-US" sz="2500" b="1" i="1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en-US" sz="2500" b="1" i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𝐝𝐫𝐢𝐟𝐭</m:t>
                          </m:r>
                        </m:sub>
                      </m:sSub>
                      <m:d>
                        <m:dPr>
                          <m:ctrlPr>
                            <a:rPr lang="de-CH" sz="2500" b="1" i="1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2500" b="1" i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𝐍</m:t>
                          </m:r>
                        </m:e>
                      </m:d>
                      <m:r>
                        <a:rPr lang="en-US" sz="25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de-CH" sz="25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  <m:r>
                            <a:rPr lang="en-US" sz="2500" b="1" i="0" smtClean="0">
                              <a:latin typeface="Cambria Math" panose="02040503050406030204" pitchFamily="18" charset="0"/>
                            </a:rPr>
                            <m:t>𝐫𝐢𝐟𝐭</m:t>
                          </m:r>
                        </m:sub>
                      </m:sSub>
                      <m:r>
                        <a:rPr lang="de-CH" sz="2500" b="1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de-CH" sz="2500" b="1" i="0" smtClean="0"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de-CH" sz="2500" b="1" i="0" smtClean="0">
                          <a:latin typeface="Cambria Math" panose="02040503050406030204" pitchFamily="18" charset="0"/>
                        </a:rPr>
                        <m:t>,:]</m:t>
                      </m:r>
                      <m:sSup>
                        <m:sSupPr>
                          <m:ctrlPr>
                            <a:rPr lang="en-US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5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d>
                            <m:dPr>
                              <m:ctrlPr>
                                <a:rPr lang="en-US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1" i="0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de-CH" sz="2500" b="1" i="0" smtClean="0">
                                      <a:latin typeface="Cambria Math" panose="02040503050406030204" pitchFamily="18" charset="0"/>
                                    </a:rPr>
                                    <m:t>𝐃</m:t>
                                  </m:r>
                                  <m:r>
                                    <a:rPr lang="en-US" sz="2500" b="1" i="0" smtClean="0">
                                      <a:latin typeface="Cambria Math" panose="02040503050406030204" pitchFamily="18" charset="0"/>
                                    </a:rPr>
                                    <m:t>𝐫𝐢𝐟𝐭</m:t>
                                  </m:r>
                                </m:sub>
                              </m:sSub>
                              <m:r>
                                <a:rPr lang="en-US" sz="25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1" i="0" smtClean="0">
                                      <a:latin typeface="Cambria Math" panose="020405030504060302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de-CH" sz="2500" b="1" i="0" smtClean="0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US" sz="25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𝐫𝐨𝐜𝐞𝐬𝐬</m:t>
                                  </m:r>
                                </m:sub>
                              </m:sSub>
                              <m:r>
                                <a:rPr lang="en-US" sz="25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2500" b="1" i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500" b="1" i="0" smtClea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</m:d>
                        </m:e>
                        <m:sup>
                          <m:r>
                            <a:rPr lang="en-US" sz="25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5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de-CH" sz="25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𝐇𝐁𝐒𝐈</m:t>
                      </m:r>
                    </m:oMath>
                  </m:oMathPara>
                </a14:m>
                <a:endParaRPr lang="en-US" sz="25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0661A-7D07-459E-14FB-08A7088B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3191" y="3972371"/>
                <a:ext cx="10961585" cy="6249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BC666C79-BB57-A552-E7B0-B078AD5DD0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2470" y="6414450"/>
            <a:ext cx="726405" cy="21961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14EC6C-85C1-7780-5A46-28DBB04B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3FE95783-16C5-4E43-923A-B8B35027D727}" type="slidenum">
              <a:rPr lang="en-US" smtClean="0"/>
              <a:t>19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F881524-2549-8A2C-CC35-DB12CF88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Ariane Gubser/RDAC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14CF79-18FB-4790-73EA-73C5433A4E9C}"/>
              </a:ext>
            </a:extLst>
          </p:cNvPr>
          <p:cNvSpPr/>
          <p:nvPr/>
        </p:nvSpPr>
        <p:spPr>
          <a:xfrm>
            <a:off x="9663304" y="2731715"/>
            <a:ext cx="222632" cy="23067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solidFill>
                <a:srgbClr val="FFFFFF"/>
              </a:solidFill>
              <a:latin typeface="E+H Sans" panose="020B040405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998616-575C-9AE9-2286-BFD11667EF6A}"/>
                  </a:ext>
                </a:extLst>
              </p:cNvPr>
              <p:cNvSpPr txBox="1"/>
              <p:nvPr/>
            </p:nvSpPr>
            <p:spPr>
              <a:xfrm>
                <a:off x="10121732" y="2245824"/>
                <a:ext cx="18635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2000" b="0" i="0" smtClean="0">
                          <a:latin typeface="Cambria Math" panose="02040503050406030204" pitchFamily="18" charset="0"/>
                        </a:rPr>
                        <m:t>HBS</m:t>
                      </m:r>
                      <m:sSub>
                        <m:sSub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2000" b="0" i="0" smtClean="0">
                              <a:latin typeface="Cambria Math" panose="02040503050406030204" pitchFamily="18" charset="0"/>
                            </a:rPr>
                            <m:t>Drift</m:t>
                          </m:r>
                        </m:sub>
                      </m:sSub>
                      <m:d>
                        <m:d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CH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de-CH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2000" b="0" i="0" smtClean="0">
                          <a:latin typeface="Cambria Math" panose="02040503050406030204" pitchFamily="18" charset="0"/>
                        </a:rPr>
                        <m:t>HBSI</m:t>
                      </m:r>
                      <m:r>
                        <a:rPr lang="de-CH" sz="2000" b="0" i="0" smtClean="0">
                          <a:latin typeface="Cambria Math" panose="02040503050406030204" pitchFamily="18" charset="0"/>
                        </a:rPr>
                        <m:t>[2028+]</m:t>
                      </m:r>
                    </m:oMath>
                  </m:oMathPara>
                </a14:m>
                <a:endParaRPr lang="en-US" sz="2000" dirty="0" err="1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998616-575C-9AE9-2286-BFD11667E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1732" y="2245824"/>
                <a:ext cx="1863523" cy="615553"/>
              </a:xfrm>
              <a:prstGeom prst="rect">
                <a:avLst/>
              </a:prstGeom>
              <a:blipFill>
                <a:blip r:embed="rId13"/>
                <a:stretch>
                  <a:fillRect l="-980" r="-2941" b="-16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072FB7-9DBC-83EB-463F-843CBDFC4A4B}"/>
              </a:ext>
            </a:extLst>
          </p:cNvPr>
          <p:cNvCxnSpPr>
            <a:cxnSpLocks/>
          </p:cNvCxnSpPr>
          <p:nvPr/>
        </p:nvCxnSpPr>
        <p:spPr>
          <a:xfrm flipH="1">
            <a:off x="9858089" y="2471104"/>
            <a:ext cx="200311" cy="2606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58BFC207-61B6-CB0B-3D0C-B189A81386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6623" y="5040075"/>
              <a:ext cx="1775186" cy="3797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3926">
                      <a:extLst>
                        <a:ext uri="{9D8B030D-6E8A-4147-A177-3AD203B41FA5}">
                          <a16:colId xmlns:a16="http://schemas.microsoft.com/office/drawing/2014/main" val="2354242131"/>
                        </a:ext>
                      </a:extLst>
                    </a:gridCol>
                    <a:gridCol w="270711">
                      <a:extLst>
                        <a:ext uri="{9D8B030D-6E8A-4147-A177-3AD203B41FA5}">
                          <a16:colId xmlns:a16="http://schemas.microsoft.com/office/drawing/2014/main" val="3373653228"/>
                        </a:ext>
                      </a:extLst>
                    </a:gridCol>
                    <a:gridCol w="770549">
                      <a:extLst>
                        <a:ext uri="{9D8B030D-6E8A-4147-A177-3AD203B41FA5}">
                          <a16:colId xmlns:a16="http://schemas.microsoft.com/office/drawing/2014/main" val="844693622"/>
                        </a:ext>
                      </a:extLst>
                    </a:gridCol>
                  </a:tblGrid>
                  <a:tr h="3797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 dirty="0"/>
                            <a:t>..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43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58BFC207-61B6-CB0B-3D0C-B189A81386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6623" y="5040075"/>
              <a:ext cx="1775186" cy="3797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3926">
                      <a:extLst>
                        <a:ext uri="{9D8B030D-6E8A-4147-A177-3AD203B41FA5}">
                          <a16:colId xmlns:a16="http://schemas.microsoft.com/office/drawing/2014/main" val="2354242131"/>
                        </a:ext>
                      </a:extLst>
                    </a:gridCol>
                    <a:gridCol w="270711">
                      <a:extLst>
                        <a:ext uri="{9D8B030D-6E8A-4147-A177-3AD203B41FA5}">
                          <a16:colId xmlns:a16="http://schemas.microsoft.com/office/drawing/2014/main" val="3373653228"/>
                        </a:ext>
                      </a:extLst>
                    </a:gridCol>
                    <a:gridCol w="770549">
                      <a:extLst>
                        <a:ext uri="{9D8B030D-6E8A-4147-A177-3AD203B41FA5}">
                          <a16:colId xmlns:a16="http://schemas.microsoft.com/office/drawing/2014/main" val="844693622"/>
                        </a:ext>
                      </a:extLst>
                    </a:gridCol>
                  </a:tblGrid>
                  <a:tr h="379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826" t="-1563" r="-142975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i="0"/>
                            <a:t>..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30709" t="-1563" r="-1575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4367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FEF704E3-59DB-8123-3676-A91EBA1122A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48230" y="4999605"/>
              <a:ext cx="2878217" cy="12489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1053">
                      <a:extLst>
                        <a:ext uri="{9D8B030D-6E8A-4147-A177-3AD203B41FA5}">
                          <a16:colId xmlns:a16="http://schemas.microsoft.com/office/drawing/2014/main" val="4044365990"/>
                        </a:ext>
                      </a:extLst>
                    </a:gridCol>
                    <a:gridCol w="818148">
                      <a:extLst>
                        <a:ext uri="{9D8B030D-6E8A-4147-A177-3AD203B41FA5}">
                          <a16:colId xmlns:a16="http://schemas.microsoft.com/office/drawing/2014/main" val="2168589441"/>
                        </a:ext>
                      </a:extLst>
                    </a:gridCol>
                    <a:gridCol w="415263">
                      <a:extLst>
                        <a:ext uri="{9D8B030D-6E8A-4147-A177-3AD203B41FA5}">
                          <a16:colId xmlns:a16="http://schemas.microsoft.com/office/drawing/2014/main" val="2107273108"/>
                        </a:ext>
                      </a:extLst>
                    </a:gridCol>
                    <a:gridCol w="733753">
                      <a:extLst>
                        <a:ext uri="{9D8B030D-6E8A-4147-A177-3AD203B41FA5}">
                          <a16:colId xmlns:a16="http://schemas.microsoft.com/office/drawing/2014/main" val="1404684818"/>
                        </a:ext>
                      </a:extLst>
                    </a:gridCol>
                  </a:tblGrid>
                  <a:tr h="2972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617734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79775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6580916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6856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FEF704E3-59DB-8123-3676-A91EBA1122A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48230" y="4999605"/>
              <a:ext cx="2878217" cy="12489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11053">
                      <a:extLst>
                        <a:ext uri="{9D8B030D-6E8A-4147-A177-3AD203B41FA5}">
                          <a16:colId xmlns:a16="http://schemas.microsoft.com/office/drawing/2014/main" val="4044365990"/>
                        </a:ext>
                      </a:extLst>
                    </a:gridCol>
                    <a:gridCol w="818148">
                      <a:extLst>
                        <a:ext uri="{9D8B030D-6E8A-4147-A177-3AD203B41FA5}">
                          <a16:colId xmlns:a16="http://schemas.microsoft.com/office/drawing/2014/main" val="2168589441"/>
                        </a:ext>
                      </a:extLst>
                    </a:gridCol>
                    <a:gridCol w="415263">
                      <a:extLst>
                        <a:ext uri="{9D8B030D-6E8A-4147-A177-3AD203B41FA5}">
                          <a16:colId xmlns:a16="http://schemas.microsoft.com/office/drawing/2014/main" val="2107273108"/>
                        </a:ext>
                      </a:extLst>
                    </a:gridCol>
                    <a:gridCol w="733753">
                      <a:extLst>
                        <a:ext uri="{9D8B030D-6E8A-4147-A177-3AD203B41FA5}">
                          <a16:colId xmlns:a16="http://schemas.microsoft.com/office/drawing/2014/main" val="1404684818"/>
                        </a:ext>
                      </a:extLst>
                    </a:gridCol>
                  </a:tblGrid>
                  <a:tr h="297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667" t="-2041" r="-216667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12687" t="-2041" r="-142537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91736" t="-2041" r="-1653" b="-324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617734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667" t="-102041" r="-216667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91736" t="-102041" r="-1653" b="-224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79775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6580916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667" t="-228571" r="-21666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12687" t="-228571" r="-14253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91736" t="-228571" r="-1653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6856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93761E3E-8F7E-D4BF-0DCE-97DC435893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84486" y="5011065"/>
              <a:ext cx="2711188" cy="122607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4628">
                      <a:extLst>
                        <a:ext uri="{9D8B030D-6E8A-4147-A177-3AD203B41FA5}">
                          <a16:colId xmlns:a16="http://schemas.microsoft.com/office/drawing/2014/main" val="1085629946"/>
                        </a:ext>
                      </a:extLst>
                    </a:gridCol>
                    <a:gridCol w="727504">
                      <a:extLst>
                        <a:ext uri="{9D8B030D-6E8A-4147-A177-3AD203B41FA5}">
                          <a16:colId xmlns:a16="http://schemas.microsoft.com/office/drawing/2014/main" val="46021510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711819001"/>
                        </a:ext>
                      </a:extLst>
                    </a:gridCol>
                    <a:gridCol w="840776">
                      <a:extLst>
                        <a:ext uri="{9D8B030D-6E8A-4147-A177-3AD203B41FA5}">
                          <a16:colId xmlns:a16="http://schemas.microsoft.com/office/drawing/2014/main" val="4004659139"/>
                        </a:ext>
                      </a:extLst>
                    </a:gridCol>
                  </a:tblGrid>
                  <a:tr h="2634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9710069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2497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6904478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de-CH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e-CH" sz="12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CH" sz="1200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de-CH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74522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93761E3E-8F7E-D4BF-0DCE-97DC435893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84486" y="5011065"/>
              <a:ext cx="2711188" cy="122607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4628">
                      <a:extLst>
                        <a:ext uri="{9D8B030D-6E8A-4147-A177-3AD203B41FA5}">
                          <a16:colId xmlns:a16="http://schemas.microsoft.com/office/drawing/2014/main" val="1085629946"/>
                        </a:ext>
                      </a:extLst>
                    </a:gridCol>
                    <a:gridCol w="727504">
                      <a:extLst>
                        <a:ext uri="{9D8B030D-6E8A-4147-A177-3AD203B41FA5}">
                          <a16:colId xmlns:a16="http://schemas.microsoft.com/office/drawing/2014/main" val="46021510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711819001"/>
                        </a:ext>
                      </a:extLst>
                    </a:gridCol>
                    <a:gridCol w="840776">
                      <a:extLst>
                        <a:ext uri="{9D8B030D-6E8A-4147-A177-3AD203B41FA5}">
                          <a16:colId xmlns:a16="http://schemas.microsoft.com/office/drawing/2014/main" val="400465913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649" t="-4444" r="-190909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30252" t="-4444" r="-147059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223913" t="-4444" r="-1449" b="-3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9710069"/>
                      </a:ext>
                    </a:extLst>
                  </a:tr>
                  <a:tr h="29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649" t="-95918" r="-190909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223913" t="-95918" r="-1449" b="-224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24977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6904478"/>
                      </a:ext>
                    </a:extLst>
                  </a:tr>
                  <a:tr h="379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649" t="-223810" r="-19090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30252" t="-223810" r="-147059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200" i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223913" t="-223810" r="-1449" b="-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74522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729E62-7B1D-C04A-4EBA-D605CD267D5A}"/>
                  </a:ext>
                </a:extLst>
              </p:cNvPr>
              <p:cNvSpPr txBox="1"/>
              <p:nvPr/>
            </p:nvSpPr>
            <p:spPr>
              <a:xfrm>
                <a:off x="10009188" y="4999605"/>
                <a:ext cx="2283691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CH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𝐇𝐁𝐒</m:t>
                                </m:r>
                                <m:sSub>
                                  <m:sSubPr>
                                    <m:ctrlPr>
                                      <a:rPr lang="de-CH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b>
                                    <m:r>
                                      <a:rPr lang="de-CH" sz="1800" b="1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CH" sz="1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𝐇𝐁𝐒</m:t>
                                </m:r>
                                <m:sSub>
                                  <m:sSubPr>
                                    <m:ctrlPr>
                                      <a:rPr lang="de-CH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b>
                                    <m:r>
                                      <a:rPr lang="de-CH" sz="1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729E62-7B1D-C04A-4EBA-D605CD267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188" y="4999605"/>
                <a:ext cx="2283691" cy="97270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B89648-90A5-8A14-85C7-53F18029E234}"/>
                  </a:ext>
                </a:extLst>
              </p:cNvPr>
              <p:cNvSpPr txBox="1"/>
              <p:nvPr/>
            </p:nvSpPr>
            <p:spPr>
              <a:xfrm>
                <a:off x="2550431" y="4833068"/>
                <a:ext cx="8099802" cy="703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3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</m:t>
                              </m:r>
                              <m:r>
                                <a:rPr lang="en-US" sz="30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3000" b="1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+ </m:t>
                              </m:r>
                              <m:sSup>
                                <m:sSupPr>
                                  <m:ctrlPr>
                                    <a:rPr lang="en-US" sz="3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3000" b="1" i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3000" b="1" i="0" smtClea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</m:d>
                        </m:e>
                        <m:sup>
                          <m:r>
                            <a:rPr lang="de-CH" sz="30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B89648-90A5-8A14-85C7-53F18029E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431" y="4833068"/>
                <a:ext cx="8099802" cy="7036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3F21B95-AAAF-6879-9E71-40B308EE1986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1684216" y="4613975"/>
            <a:ext cx="2111748" cy="42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Left Brace 53">
            <a:extLst>
              <a:ext uri="{FF2B5EF4-FFF2-40B4-BE49-F238E27FC236}">
                <a16:creationId xmlns:a16="http://schemas.microsoft.com/office/drawing/2014/main" id="{9A87439C-4C56-1910-25C8-A2337D28D033}"/>
              </a:ext>
            </a:extLst>
          </p:cNvPr>
          <p:cNvSpPr/>
          <p:nvPr/>
        </p:nvSpPr>
        <p:spPr>
          <a:xfrm rot="16200000">
            <a:off x="6395305" y="2968299"/>
            <a:ext cx="166122" cy="339418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4BEA763-7466-515C-4AC3-47BDE928D264}"/>
              </a:ext>
            </a:extLst>
          </p:cNvPr>
          <p:cNvCxnSpPr>
            <a:cxnSpLocks/>
          </p:cNvCxnSpPr>
          <p:nvPr/>
        </p:nvCxnSpPr>
        <p:spPr>
          <a:xfrm>
            <a:off x="8926447" y="4497111"/>
            <a:ext cx="2100495" cy="42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C6ADC0-C0F6-CF1C-E15C-06FC0801FEEC}"/>
                  </a:ext>
                </a:extLst>
              </p:cNvPr>
              <p:cNvSpPr txBox="1"/>
              <p:nvPr/>
            </p:nvSpPr>
            <p:spPr>
              <a:xfrm>
                <a:off x="406190" y="4123357"/>
                <a:ext cx="2281995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rgbClr val="09840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𝐇𝐁𝐒</m:t>
                    </m:r>
                    <m:r>
                      <a:rPr lang="de-CH" sz="2000" b="1" i="0" smtClean="0">
                        <a:solidFill>
                          <a:srgbClr val="09840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lang="de-CH" sz="2000" b="1" i="0" smtClean="0">
                        <a:solidFill>
                          <a:srgbClr val="09840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de-CH" sz="2000" b="1" i="1" smtClean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2000" b="1" i="0" smtClean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𝟐𝟎𝟐𝟖</m:t>
                        </m:r>
                        <m:r>
                          <a:rPr lang="de-CH" sz="2000" b="1" i="0" smtClean="0">
                            <a:solidFill>
                              <a:srgbClr val="09840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98409"/>
                    </a:solidFill>
                  </a:rPr>
                  <a:t>(t)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AC6ADC0-C0F6-CF1C-E15C-06FC0801F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90" y="4123357"/>
                <a:ext cx="2281995" cy="400110"/>
              </a:xfrm>
              <a:prstGeom prst="rect">
                <a:avLst/>
              </a:prstGeom>
              <a:blipFill>
                <a:blip r:embed="rId1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56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5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428EA84A-A864-7162-932D-20E4D70207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1" t="-375" r="53923" b="375"/>
          <a:stretch/>
        </p:blipFill>
        <p:spPr>
          <a:xfrm>
            <a:off x="9241528" y="1402847"/>
            <a:ext cx="1203615" cy="226934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0CF1FE-BB5D-4A3B-6EDF-FE78C2EF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Process Concept on HBSI[2021] with </a:t>
            </a:r>
            <a:r>
              <a:rPr lang="en-US" dirty="0">
                <a:solidFill>
                  <a:srgbClr val="FFA000"/>
                </a:solidFill>
              </a:rPr>
              <a:t>drift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3D416-8A61-54E0-7493-61B9DBFD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HBSI-Link to measurement performance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15DC1D-8FDA-BBAD-A2DE-DB875D42C651}"/>
              </a:ext>
            </a:extLst>
          </p:cNvPr>
          <p:cNvSpPr txBox="1">
            <a:spLocks/>
          </p:cNvSpPr>
          <p:nvPr/>
        </p:nvSpPr>
        <p:spPr>
          <a:xfrm rot="16200000">
            <a:off x="26171" y="211374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HBSI [%]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BC7057C-5E72-EE13-2EFB-FF91D292D5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90" t="49948"/>
          <a:stretch/>
        </p:blipFill>
        <p:spPr>
          <a:xfrm>
            <a:off x="593731" y="1395619"/>
            <a:ext cx="2654659" cy="227889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6EE5395-E846-6E74-1699-A0C3999F61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90" t="49948"/>
          <a:stretch/>
        </p:blipFill>
        <p:spPr>
          <a:xfrm>
            <a:off x="3637709" y="1392621"/>
            <a:ext cx="2654659" cy="2321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E3FB7F-6C9E-6BC2-B606-1BCC71B538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4100" y="2091939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000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0E3FB7F-6C9E-6BC2-B606-1BCC71B53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100" y="2091939"/>
                <a:ext cx="37991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218CC2-1EDB-A6E1-1D0A-1CDDA5ACE6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8631" y="2068500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000" b="1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218CC2-1EDB-A6E1-1D0A-1CDDA5ACE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631" y="2068500"/>
                <a:ext cx="3799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706A55F-640F-A292-85C4-AE5E7270C036}"/>
              </a:ext>
            </a:extLst>
          </p:cNvPr>
          <p:cNvSpPr txBox="1">
            <a:spLocks/>
          </p:cNvSpPr>
          <p:nvPr/>
        </p:nvSpPr>
        <p:spPr>
          <a:xfrm>
            <a:off x="1463019" y="1172480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E+H Serif" pitchFamily="18" charset="0"/>
              </a:rPr>
              <a:t>HBSI (2021)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457C91-75E4-D202-4A4E-4BE977223C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7409" y="1158570"/>
                <a:ext cx="1566647" cy="2936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0" dirty="0" smtClean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𝐇𝐁𝐒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en-US" sz="1200" b="1" i="0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𝐩𝐫𝐨𝐜𝐞𝐬𝐬</m:t>
                          </m:r>
                        </m:sub>
                      </m:sSub>
                      <m:r>
                        <a:rPr lang="en-US" sz="1200" b="1" i="0" dirty="0" smtClean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200" b="1" i="0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</m:sub>
                      </m:sSub>
                      <m:r>
                        <a:rPr lang="en-US" sz="1200" b="1" i="0" dirty="0" smtClean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202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20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rgbClr val="0202FF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457C91-75E4-D202-4A4E-4BE97722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409" y="1158570"/>
                <a:ext cx="1566647" cy="293607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AB4E99-1688-5C94-F757-65896C54A4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7390" y="1189495"/>
                <a:ext cx="10230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0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𝐇𝐁𝐒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en-US" sz="1200" b="1" i="0" dirty="0" smtClean="0">
                              <a:solidFill>
                                <a:srgbClr val="098409"/>
                              </a:solidFill>
                              <a:latin typeface="Cambria Math" panose="02040503050406030204" pitchFamily="18" charset="0"/>
                            </a:rPr>
                            <m:t>𝐝𝐫𝐢𝐟𝐭</m:t>
                          </m:r>
                        </m:sub>
                      </m:sSub>
                      <m:r>
                        <a:rPr lang="en-US" sz="1200" b="1" i="0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1" i="1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200" b="1" i="1" dirty="0" smtClean="0">
                          <a:solidFill>
                            <a:srgbClr val="09840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rgbClr val="098409"/>
                  </a:solidFill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AB4E99-1688-5C94-F757-65896C54A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390" y="1189495"/>
                <a:ext cx="1023036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3429C312-FA7F-AD4D-608E-8364193E1F7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45" t="74996" r="41957" b="21367"/>
          <a:stretch/>
        </p:blipFill>
        <p:spPr>
          <a:xfrm>
            <a:off x="7930424" y="1211953"/>
            <a:ext cx="1289304" cy="230671"/>
          </a:xfrm>
          <a:prstGeom prst="rect">
            <a:avLst/>
          </a:prstGeom>
        </p:spPr>
      </p:pic>
      <p:pic>
        <p:nvPicPr>
          <p:cNvPr id="60" name="Picture 59" descr="A close-up of a graph&#10;&#10;Description automatically generated">
            <a:extLst>
              <a:ext uri="{FF2B5EF4-FFF2-40B4-BE49-F238E27FC236}">
                <a16:creationId xmlns:a16="http://schemas.microsoft.com/office/drawing/2014/main" id="{9F91AE9E-7580-1F39-17CD-6C09BEF68A8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3" t="73116" r="16104" b="22234"/>
          <a:stretch/>
        </p:blipFill>
        <p:spPr>
          <a:xfrm>
            <a:off x="5332574" y="1211953"/>
            <a:ext cx="1456049" cy="24322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86EE822-F80B-5D1C-07F9-13ECC9AF9CD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5689" t="3186" r="1742" b="51467"/>
          <a:stretch/>
        </p:blipFill>
        <p:spPr>
          <a:xfrm>
            <a:off x="573944" y="1445259"/>
            <a:ext cx="2690686" cy="208401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97BC329-5015-EF25-1113-B7C2B6BD56C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744" t="2040" r="65439" b="51615"/>
          <a:stretch/>
        </p:blipFill>
        <p:spPr>
          <a:xfrm>
            <a:off x="9642538" y="1574079"/>
            <a:ext cx="1159432" cy="1999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9833CF3-D026-454D-DED1-28701508FD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3693" y="2049527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000" b="1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9833CF3-D026-454D-DED1-28701508F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693" y="2049527"/>
                <a:ext cx="37991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Picture 71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0227021C-368C-16F5-A043-D7ADDA0B68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1" t="-375" r="53923" b="375"/>
          <a:stretch/>
        </p:blipFill>
        <p:spPr>
          <a:xfrm>
            <a:off x="9241528" y="3755044"/>
            <a:ext cx="1203615" cy="2269349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B573A62E-D9F2-B338-F7E5-767ECDB81B70}"/>
              </a:ext>
            </a:extLst>
          </p:cNvPr>
          <p:cNvSpPr txBox="1">
            <a:spLocks/>
          </p:cNvSpPr>
          <p:nvPr/>
        </p:nvSpPr>
        <p:spPr>
          <a:xfrm rot="16200000">
            <a:off x="26171" y="4465939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HBSI [%]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A8CE115F-FB7C-9C4F-AEF6-281104B2AC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90" t="49948"/>
          <a:stretch/>
        </p:blipFill>
        <p:spPr>
          <a:xfrm>
            <a:off x="593731" y="3747816"/>
            <a:ext cx="2654659" cy="2278899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8DB90419-EBB6-6661-EF54-17759A7B20C7}"/>
              </a:ext>
            </a:extLst>
          </p:cNvPr>
          <p:cNvSpPr txBox="1">
            <a:spLocks/>
          </p:cNvSpPr>
          <p:nvPr/>
        </p:nvSpPr>
        <p:spPr>
          <a:xfrm>
            <a:off x="733094" y="5893096"/>
            <a:ext cx="25763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Data Point [#] – sampling </a:t>
            </a:r>
            <a:r>
              <a:rPr lang="en-US" sz="1200" dirty="0" err="1">
                <a:latin typeface="E+H Serif" pitchFamily="18" charset="0"/>
              </a:rPr>
              <a:t>freq</a:t>
            </a:r>
            <a:r>
              <a:rPr lang="en-US" sz="1200" dirty="0">
                <a:latin typeface="E+H Serif" pitchFamily="18" charset="0"/>
              </a:rPr>
              <a:t> = 3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96D57B-D676-7E9E-E31A-AF9E0955D4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4100" y="4444136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000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96D57B-D676-7E9E-E31A-AF9E0955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100" y="4444136"/>
                <a:ext cx="379912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43C0FFB-B53F-80C5-8595-642987FF02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8631" y="4420697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000" b="1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43C0FFB-B53F-80C5-8595-642987FF0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631" y="4420697"/>
                <a:ext cx="379912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99704EA4-124E-90A7-120C-3537CE5FAFBF}"/>
              </a:ext>
            </a:extLst>
          </p:cNvPr>
          <p:cNvSpPr txBox="1">
            <a:spLocks/>
          </p:cNvSpPr>
          <p:nvPr/>
        </p:nvSpPr>
        <p:spPr>
          <a:xfrm>
            <a:off x="3737409" y="5890097"/>
            <a:ext cx="25763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Data Point [#] – sampling </a:t>
            </a:r>
            <a:r>
              <a:rPr lang="en-US" sz="1200" dirty="0" err="1">
                <a:latin typeface="E+H Serif" pitchFamily="18" charset="0"/>
              </a:rPr>
              <a:t>freq</a:t>
            </a:r>
            <a:r>
              <a:rPr lang="en-US" sz="1200" dirty="0">
                <a:latin typeface="E+H Serif" pitchFamily="18" charset="0"/>
              </a:rPr>
              <a:t> = 3 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C5EF68-5B95-C9C8-7E37-D7897D2B0826}"/>
              </a:ext>
            </a:extLst>
          </p:cNvPr>
          <p:cNvSpPr txBox="1">
            <a:spLocks/>
          </p:cNvSpPr>
          <p:nvPr/>
        </p:nvSpPr>
        <p:spPr>
          <a:xfrm>
            <a:off x="6681528" y="5939518"/>
            <a:ext cx="257634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E+H Serif" pitchFamily="18" charset="0"/>
              </a:rPr>
              <a:t>Data Point [#] – sampling </a:t>
            </a:r>
            <a:r>
              <a:rPr lang="en-US" sz="1200" dirty="0" err="1">
                <a:latin typeface="E+H Serif" pitchFamily="18" charset="0"/>
              </a:rPr>
              <a:t>freq</a:t>
            </a:r>
            <a:r>
              <a:rPr lang="en-US" sz="1200" dirty="0">
                <a:latin typeface="E+H Serif" pitchFamily="18" charset="0"/>
              </a:rPr>
              <a:t> = 3 s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66B4BAC1-83E8-46F4-9C5D-4CC2F85E3D5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5689" t="3186" r="1742" b="51467"/>
          <a:stretch/>
        </p:blipFill>
        <p:spPr>
          <a:xfrm>
            <a:off x="573944" y="3797456"/>
            <a:ext cx="2690686" cy="208401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6439649F-71BB-C272-72F1-C5B7AED5224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1704" r="66909" b="1729"/>
          <a:stretch/>
        </p:blipFill>
        <p:spPr>
          <a:xfrm>
            <a:off x="6588992" y="3839917"/>
            <a:ext cx="2639852" cy="210117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160B999-3BE3-EB03-9019-CAEE0A2795E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390" t="51163" r="65686" b="3140"/>
          <a:stretch/>
        </p:blipFill>
        <p:spPr>
          <a:xfrm>
            <a:off x="6610055" y="3812972"/>
            <a:ext cx="2610409" cy="211781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7D08A87-901F-2CB5-70DB-012EBB8D7D8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744" t="2040" r="65439" b="51615"/>
          <a:stretch/>
        </p:blipFill>
        <p:spPr>
          <a:xfrm>
            <a:off x="9642538" y="3926275"/>
            <a:ext cx="1159432" cy="1999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D2DDD7-67F2-9648-3F56-5945BA4EF7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3693" y="4401724"/>
                <a:ext cx="37991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000" b="1" dirty="0">
                  <a:latin typeface="E+H Serif" pitchFamily="18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D2DDD7-67F2-9648-3F56-5945BA4E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693" y="4401724"/>
                <a:ext cx="37991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3" name="Picture 92">
            <a:extLst>
              <a:ext uri="{FF2B5EF4-FFF2-40B4-BE49-F238E27FC236}">
                <a16:creationId xmlns:a16="http://schemas.microsoft.com/office/drawing/2014/main" id="{D3F8A1A5-4548-7994-9D85-BD586521A9E2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65181" t="4763" r="4554" b="50882"/>
          <a:stretch/>
        </p:blipFill>
        <p:spPr>
          <a:xfrm>
            <a:off x="552557" y="1402845"/>
            <a:ext cx="2756883" cy="2170362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90641BE5-017D-45BE-D1CC-82355E4FBBDD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5325" t="51507" r="64627" b="3026"/>
          <a:stretch/>
        </p:blipFill>
        <p:spPr>
          <a:xfrm>
            <a:off x="6739516" y="1459793"/>
            <a:ext cx="2480214" cy="214574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FCD7FD1-E4AA-CCF1-AEA0-D8620C2169C7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3032" t="51428" r="64867" b="2797"/>
          <a:stretch/>
        </p:blipFill>
        <p:spPr>
          <a:xfrm>
            <a:off x="6739516" y="1488403"/>
            <a:ext cx="2579685" cy="2109078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D466510A-07A2-4D00-F20C-6F95431C7B8C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35963" t="51428" r="32894" b="2941"/>
          <a:stretch/>
        </p:blipFill>
        <p:spPr>
          <a:xfrm>
            <a:off x="3706163" y="1488403"/>
            <a:ext cx="2610409" cy="2105138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0C02EBB-4387-6491-3AD1-31FD40532DA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0857" t="3375" r="65168" b="51518"/>
          <a:stretch/>
        </p:blipFill>
        <p:spPr>
          <a:xfrm>
            <a:off x="9635954" y="1656864"/>
            <a:ext cx="1171392" cy="19486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374A1B-66A0-85CB-B6F3-B0CB8CCA08A8}"/>
              </a:ext>
            </a:extLst>
          </p:cNvPr>
          <p:cNvSpPr txBox="1">
            <a:spLocks/>
          </p:cNvSpPr>
          <p:nvPr/>
        </p:nvSpPr>
        <p:spPr>
          <a:xfrm>
            <a:off x="9594747" y="1162972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E+H Serif" pitchFamily="18" charset="0"/>
              </a:rPr>
              <a:t>Performance:</a:t>
            </a:r>
            <a:br>
              <a:rPr lang="en-US" sz="1200" b="1" dirty="0">
                <a:latin typeface="E+H Serif" pitchFamily="18" charset="0"/>
              </a:rPr>
            </a:br>
            <a:r>
              <a:rPr lang="en-US" sz="1200" dirty="0">
                <a:latin typeface="E+H Serif" pitchFamily="18" charset="0"/>
              </a:rPr>
              <a:t>diff(       ,       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7E405B-452D-919F-82C3-A52CB7C06A79}"/>
              </a:ext>
            </a:extLst>
          </p:cNvPr>
          <p:cNvSpPr>
            <a:spLocks/>
          </p:cNvSpPr>
          <p:nvPr/>
        </p:nvSpPr>
        <p:spPr>
          <a:xfrm>
            <a:off x="10010180" y="1395332"/>
            <a:ext cx="227061" cy="168461"/>
          </a:xfrm>
          <a:prstGeom prst="rect">
            <a:avLst/>
          </a:prstGeom>
          <a:solidFill>
            <a:srgbClr val="098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51C5B-901B-AD3B-7ED9-08700745D770}"/>
              </a:ext>
            </a:extLst>
          </p:cNvPr>
          <p:cNvSpPr>
            <a:spLocks/>
          </p:cNvSpPr>
          <p:nvPr/>
        </p:nvSpPr>
        <p:spPr>
          <a:xfrm>
            <a:off x="10307575" y="1396937"/>
            <a:ext cx="227061" cy="168461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  <a:latin typeface="E+H Serif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620BC26-353E-76B1-AC52-8AB6888D6B7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72470" y="6414450"/>
            <a:ext cx="726405" cy="2196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0936C6-1021-F95E-8DC0-E8AC09E48B4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4862" t="51442" r="32593" b="3539"/>
          <a:stretch/>
        </p:blipFill>
        <p:spPr>
          <a:xfrm>
            <a:off x="3626694" y="3714597"/>
            <a:ext cx="2693607" cy="2128042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C24C54F-6CF2-D450-C88A-D6697977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7651114A-9B38-43B6-9659-0BC8A3B47DD1}" type="slidenum">
              <a:rPr lang="en-US" smtClean="0"/>
              <a:t>20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5BD4242-4453-CEEC-C633-8737250A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Ariane Gubser/RDAC</a:t>
            </a:r>
          </a:p>
        </p:txBody>
      </p:sp>
    </p:spTree>
    <p:extLst>
      <p:ext uri="{BB962C8B-B14F-4D97-AF65-F5344CB8AC3E}">
        <p14:creationId xmlns:p14="http://schemas.microsoft.com/office/powerpoint/2010/main" val="55266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  <p:bldP spid="77" grpId="0"/>
      <p:bldP spid="78" grpId="0"/>
      <p:bldP spid="84" grpId="0"/>
      <p:bldP spid="85" grpId="0"/>
      <p:bldP spid="91" grpId="0"/>
      <p:bldP spid="4" grpId="0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D799-83D0-D8E1-369F-8F93C173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1E88DB1-0268-1915-98D4-01FA1DE9D8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Python Pipeline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90898-BDA7-34DB-252C-58C2B61D356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/>
              <a:t>Slide </a:t>
            </a:r>
            <a:fld id="{661D6024-9477-437D-BE88-3BED7D0BC858}" type="slidenum">
              <a:rPr lang="en-GB" smtClean="0"/>
              <a:t>21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7E68D0-6EEC-33B5-E6E9-8653FDB590D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</p:spTree>
    <p:extLst>
      <p:ext uri="{BB962C8B-B14F-4D97-AF65-F5344CB8AC3E}">
        <p14:creationId xmlns:p14="http://schemas.microsoft.com/office/powerpoint/2010/main" val="2713157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002ECA-C9CF-8694-8F45-08ED7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Pipeline Goals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8A4216-BD4C-0D3D-EB98-235DC267E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Simplicity:</a:t>
            </a:r>
            <a:r>
              <a:rPr lang="en-GB" dirty="0"/>
              <a:t> Simple to understand, expand, and use</a:t>
            </a:r>
          </a:p>
          <a:p>
            <a:r>
              <a:rPr lang="en-GB" dirty="0"/>
              <a:t>Extendibility</a:t>
            </a:r>
          </a:p>
          <a:p>
            <a:r>
              <a:rPr lang="en-GB" dirty="0"/>
              <a:t>Test Automation</a:t>
            </a:r>
          </a:p>
          <a:p>
            <a:r>
              <a:rPr lang="en-GB" dirty="0"/>
              <a:t>Result Aggregation</a:t>
            </a:r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C35A7-CACE-36BA-0468-BB159C72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5C03C-7ECC-D71B-BE86-72684C08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7AD61EA1-CD1D-4A57-AF5C-B2675BB8AB05}" type="slidenum">
              <a:rPr lang="en-GB" smtClean="0"/>
              <a:t>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87B35-D5B7-5E2A-FBDE-7ECDA0FD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860BF4-9A6E-C396-EA19-E215E830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520" y="4394493"/>
            <a:ext cx="2996044" cy="1431737"/>
          </a:xfrm>
          <a:prstGeom prst="rect">
            <a:avLst/>
          </a:prstGeom>
        </p:spPr>
      </p:pic>
      <p:pic>
        <p:nvPicPr>
          <p:cNvPr id="1028" name="Picture 4" descr="Logo">
            <a:extLst>
              <a:ext uri="{FF2B5EF4-FFF2-40B4-BE49-F238E27FC236}">
                <a16:creationId xmlns:a16="http://schemas.microsoft.com/office/drawing/2014/main" id="{C582BC94-7129-3FCA-5CB9-C4501DC6C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54634"/>
            <a:ext cx="2258484" cy="225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6">
            <a:extLst>
              <a:ext uri="{FF2B5EF4-FFF2-40B4-BE49-F238E27FC236}">
                <a16:creationId xmlns:a16="http://schemas.microsoft.com/office/drawing/2014/main" id="{29271345-DE38-4D9D-2A6A-D2531C03BE16}"/>
              </a:ext>
            </a:extLst>
          </p:cNvPr>
          <p:cNvSpPr txBox="1">
            <a:spLocks/>
          </p:cNvSpPr>
          <p:nvPr/>
        </p:nvSpPr>
        <p:spPr bwMode="auto">
          <a:xfrm>
            <a:off x="4352227" y="5017409"/>
            <a:ext cx="11522075" cy="360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A8005C"/>
                </a:solidFill>
                <a:latin typeface="E+H Serif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E+H Serif" pitchFamily="2" charset="0"/>
              </a:defRPr>
            </a:lvl9pPr>
          </a:lstStyle>
          <a:p>
            <a:r>
              <a:rPr lang="en-GB" kern="0" dirty="0">
                <a:solidFill>
                  <a:schemeClr val="accent2"/>
                </a:solidFill>
              </a:rPr>
              <a:t>Tooling:</a:t>
            </a:r>
          </a:p>
        </p:txBody>
      </p:sp>
    </p:spTree>
    <p:extLst>
      <p:ext uri="{BB962C8B-B14F-4D97-AF65-F5344CB8AC3E}">
        <p14:creationId xmlns:p14="http://schemas.microsoft.com/office/powerpoint/2010/main" val="1424124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92E482-2BC5-4788-BD11-28D852ED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608EB-AC69-8B34-00F4-84AE26AA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2A39B-7140-EC63-629F-A07DFDAF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AF47026-D780-4FF6-892F-2AC4DDCBBE8B}" type="slidenum">
              <a:rPr lang="en-GB" smtClean="0"/>
              <a:t>23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6D595A-B1F6-169E-F0EC-D5470B84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14FB41-E1AB-8F4B-7380-7E15F13DC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3406" y="624067"/>
            <a:ext cx="11445187" cy="560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A93956-6266-9FDF-D911-76994512C4B0}"/>
              </a:ext>
            </a:extLst>
          </p:cNvPr>
          <p:cNvSpPr txBox="1"/>
          <p:nvPr/>
        </p:nvSpPr>
        <p:spPr>
          <a:xfrm>
            <a:off x="6583681" y="980731"/>
            <a:ext cx="323088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b="1" dirty="0">
                <a:solidFill>
                  <a:srgbClr val="7030A0"/>
                </a:solidFill>
                <a:latin typeface="E+H Serif" pitchFamily="18" charset="0"/>
              </a:rPr>
              <a:t>Repeat for each selection</a:t>
            </a:r>
          </a:p>
        </p:txBody>
      </p:sp>
    </p:spTree>
    <p:extLst>
      <p:ext uri="{BB962C8B-B14F-4D97-AF65-F5344CB8AC3E}">
        <p14:creationId xmlns:p14="http://schemas.microsoft.com/office/powerpoint/2010/main" val="2945621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33A4-4B25-B2DA-3078-6EAAAE8C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32A416-4D80-EC36-3A9F-D7063924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9726F-A04A-5418-9EC4-EFB573C9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7CFD5-BE52-322B-0CB2-F75F78FB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14F3CD07-B2E5-41A0-A62B-D8CC985D52B4}" type="slidenum">
              <a:rPr lang="en-GB" smtClean="0"/>
              <a:t>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A1C6E-E6DF-4E7F-0547-0FB0865B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25B9E5-0AB0-4FF8-3A42-1623AEC65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3406" y="624067"/>
            <a:ext cx="11445187" cy="560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788F6D-ABB7-EF54-6172-9F7D8B6088C9}"/>
              </a:ext>
            </a:extLst>
          </p:cNvPr>
          <p:cNvSpPr/>
          <p:nvPr/>
        </p:nvSpPr>
        <p:spPr>
          <a:xfrm rot="19806629">
            <a:off x="610289" y="1951218"/>
            <a:ext cx="3188525" cy="1051560"/>
          </a:xfrm>
          <a:prstGeom prst="rect">
            <a:avLst/>
          </a:prstGeom>
          <a:solidFill>
            <a:srgbClr val="007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FFFF"/>
                </a:solidFill>
                <a:latin typeface="E+H Sans" panose="020B0404050202020204" pitchFamily="34" charset="0"/>
              </a:rPr>
              <a:t>Synthetic Data Generator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1A3DE-B3C4-BA7D-DA32-BC5BACD0D78D}"/>
              </a:ext>
            </a:extLst>
          </p:cNvPr>
          <p:cNvSpPr txBox="1"/>
          <p:nvPr/>
        </p:nvSpPr>
        <p:spPr>
          <a:xfrm>
            <a:off x="6583681" y="980731"/>
            <a:ext cx="323088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b="1" dirty="0">
                <a:solidFill>
                  <a:srgbClr val="7030A0"/>
                </a:solidFill>
                <a:latin typeface="E+H Serif" pitchFamily="18" charset="0"/>
              </a:rPr>
              <a:t>Repeat for each selection</a:t>
            </a:r>
          </a:p>
        </p:txBody>
      </p:sp>
    </p:spTree>
    <p:extLst>
      <p:ext uri="{BB962C8B-B14F-4D97-AF65-F5344CB8AC3E}">
        <p14:creationId xmlns:p14="http://schemas.microsoft.com/office/powerpoint/2010/main" val="2934648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002ECA-C9CF-8694-8F45-08ED7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Case Definition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6F890B9-7DCB-E31D-2997-8E6ABE88D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1273" y="1707574"/>
            <a:ext cx="7629453" cy="3442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D4F1F-5647-1C5C-2973-9198B9280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FEEBD-5A07-FDAD-1B5C-26CB7099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CA8489D1-69B3-4841-89ED-DB71FFF2B687}" type="slidenum">
              <a:rPr lang="en-GB" smtClean="0"/>
              <a:t>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F955E-89EA-618D-3FF4-19195429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</p:spTree>
    <p:extLst>
      <p:ext uri="{BB962C8B-B14F-4D97-AF65-F5344CB8AC3E}">
        <p14:creationId xmlns:p14="http://schemas.microsoft.com/office/powerpoint/2010/main" val="1888235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10B2-2C15-8E90-704A-F5282CDC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3C792C-3C21-5E99-31A5-D2BFAE0B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Case Definition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2F422-3C63-27B2-3221-CBA1B84C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F690F-C7CA-1E4C-37D0-A195A269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378C7C9F-ED68-42F7-A1A8-58F45BC77995}" type="slidenum">
              <a:rPr lang="en-GB" smtClean="0"/>
              <a:t>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0AA13-8682-1331-A2E8-04FA2213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9C7A14-4C8B-5A53-D39E-D78812A32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9994CF-A67D-068B-990F-A854AC80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1255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B40027-F579-7269-69B0-53A3CD18F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255" y="0"/>
            <a:ext cx="6659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97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002ECA-C9CF-8694-8F45-08ED7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Logging with </a:t>
            </a:r>
            <a:r>
              <a:rPr lang="en-GB" dirty="0" err="1"/>
              <a:t>MLFlow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8A4216-BD4C-0D3D-EB98-235DC267E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Run information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Plots</a:t>
            </a:r>
          </a:p>
          <a:p>
            <a:endParaRPr lang="en-GB" b="1" dirty="0"/>
          </a:p>
          <a:p>
            <a:r>
              <a:rPr lang="en-GB" b="1" dirty="0"/>
              <a:t>Files</a:t>
            </a:r>
          </a:p>
          <a:p>
            <a:endParaRPr lang="en-GB" b="1" dirty="0"/>
          </a:p>
          <a:p>
            <a:r>
              <a:rPr lang="en-GB" b="1" dirty="0"/>
              <a:t>Dataset, metrics, …</a:t>
            </a:r>
          </a:p>
          <a:p>
            <a:endParaRPr lang="en-GB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0D649-8B6D-8561-2507-1601071C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7E20-A4A6-CB08-AF95-35B023EB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F90A87CC-B4B6-488D-8AAD-F1A2B3DD7B28}" type="slidenum">
              <a:rPr lang="en-GB" smtClean="0"/>
              <a:t>27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C8CCA-2C34-8C4B-440F-A0D4BC1F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0EB41C-184E-993F-8CA9-08F2C9BB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76" y="3971336"/>
            <a:ext cx="5752672" cy="5002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053F2C-53F3-1F30-A566-CFB19A561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6" y="1495547"/>
            <a:ext cx="4643034" cy="21862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90A476-8882-7BF7-A55A-0DCCBB03D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6" y="4761074"/>
            <a:ext cx="7898464" cy="31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84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002ECA-C9CF-8694-8F45-08ED7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KPIs between Runs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815F9BA-170B-9ACB-626B-E1917F178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987" y="929061"/>
            <a:ext cx="11734026" cy="5308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801E9-CF9C-FA19-B99A-518E44E1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1BF5-7E4C-18BC-EC1F-2E02CE6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DF74821-63C2-4688-AFBF-F74C9431DCD4}" type="slidenum">
              <a:rPr lang="en-GB" smtClean="0"/>
              <a:t>28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2AB08-F596-4B3F-CB94-79D377C2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</p:spTree>
    <p:extLst>
      <p:ext uri="{BB962C8B-B14F-4D97-AF65-F5344CB8AC3E}">
        <p14:creationId xmlns:p14="http://schemas.microsoft.com/office/powerpoint/2010/main" val="3026821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92D5-C150-7D06-B416-1C945464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999909-58C1-7BAE-02FE-90CFF6E7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KPIs between Runs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5BB0-377F-3B98-60C2-E12590CB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51FC5-7561-F9D5-4141-DA70C8C0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DF74821-63C2-4688-AFBF-F74C9431DCD4}" type="slidenum">
              <a:rPr lang="en-GB" smtClean="0"/>
              <a:t>29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ADD53-D48B-580D-0FF9-DBF12C9C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77C07-880E-B3C7-53A9-560134C5E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56" y="964152"/>
            <a:ext cx="10979087" cy="52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15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1D18-3472-855E-E1B0-65C825DC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3E8A11-D92A-1063-EFA6-16FD1BE0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KPIs between Runs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D8DAA-3A11-E827-C025-91964219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Gaussian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8F1A5-9D91-3951-4251-621D8079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Slide </a:t>
            </a:r>
            <a:fld id="{4DF74821-63C2-4688-AFBF-F74C9431DCD4}" type="slidenum">
              <a:rPr lang="en-GB" smtClean="0"/>
              <a:t>30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D5904-7A2B-8FCE-4F7E-7C8D91E8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Max Bergau, Timo Schirmeier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104B6-4F19-87F3-CEF3-3FF86C84B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456" y="1205349"/>
            <a:ext cx="10979087" cy="47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32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ASSIFICATION" val="1"/>
  <p:tag name="LANGUAGE" val="9"/>
  <p:tag name="LOGOOPTIMIZATION" val="0"/>
  <p:tag name="PRESENTATIONFORMAT" val="2"/>
  <p:tag name="VERSINFO" val="EH13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FILE" val="ndomTitleImages\_FT_skilled-partner_kayaking_title.jpg"/>
  <p:tag name="SHAPETYPE" val="imgTitleImag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false_false_false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MENSIONS" val="237.6803_206.8084_659.9116_84.1015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S" val="false_false_false_"/>
</p:tagLst>
</file>

<file path=ppt/theme/theme1.xml><?xml version="1.0" encoding="utf-8"?>
<a:theme xmlns:a="http://schemas.openxmlformats.org/drawingml/2006/main" name="E+H_OnScreen">
  <a:themeElements>
    <a:clrScheme name="E+H">
      <a:dk1>
        <a:srgbClr val="000000"/>
      </a:dk1>
      <a:lt1>
        <a:srgbClr val="FFFFFF"/>
      </a:lt1>
      <a:dk2>
        <a:srgbClr val="506671"/>
      </a:dk2>
      <a:lt2>
        <a:srgbClr val="009EE3"/>
      </a:lt2>
      <a:accent1>
        <a:srgbClr val="AED3E7"/>
      </a:accent1>
      <a:accent2>
        <a:srgbClr val="007CAA"/>
      </a:accent2>
      <a:accent3>
        <a:srgbClr val="00597A"/>
      </a:accent3>
      <a:accent4>
        <a:srgbClr val="009EE3"/>
      </a:accent4>
      <a:accent5>
        <a:srgbClr val="7B0040"/>
      </a:accent5>
      <a:accent6>
        <a:srgbClr val="506671"/>
      </a:accent6>
      <a:hlink>
        <a:srgbClr val="009EE3"/>
      </a:hlink>
      <a:folHlink>
        <a:srgbClr val="8FA2AC"/>
      </a:folHlink>
    </a:clrScheme>
    <a:fontScheme name="E+H Serif">
      <a:majorFont>
        <a:latin typeface="E+H Serif"/>
        <a:ea typeface=""/>
        <a:cs typeface=""/>
      </a:majorFont>
      <a:minorFont>
        <a:latin typeface="E+H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CAA"/>
        </a:solidFill>
        <a:ln>
          <a:noFill/>
        </a:ln>
      </a:spPr>
      <a:bodyPr rtlCol="0" anchor="ctr"/>
      <a:lstStyle>
        <a:defPPr algn="ctr">
          <a:defRPr sz="2000" dirty="0" err="1" smtClean="0">
            <a:solidFill>
              <a:srgbClr val="FFFFFF"/>
            </a:solidFill>
            <a:latin typeface="E+H Sans" panose="020B040405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007CA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2000" dirty="0" err="1" smtClean="0">
            <a:latin typeface="E+H Serif" pitchFamily="18" charset="0"/>
          </a:defRPr>
        </a:defPPr>
      </a:lstStyle>
    </a:txDef>
  </a:objectDefaults>
  <a:extraClrSchemeLst>
    <a:extraClrScheme>
      <a:clrScheme name="Endress+Hauser">
        <a:dk1>
          <a:srgbClr val="000000"/>
        </a:dk1>
        <a:lt1>
          <a:srgbClr val="FFFFFF"/>
        </a:lt1>
        <a:dk2>
          <a:srgbClr val="506671"/>
        </a:dk2>
        <a:lt2>
          <a:srgbClr val="009EE3"/>
        </a:lt2>
        <a:accent1>
          <a:srgbClr val="AED3E7"/>
        </a:accent1>
        <a:accent2>
          <a:srgbClr val="007CAA"/>
        </a:accent2>
        <a:accent3>
          <a:srgbClr val="00597A"/>
        </a:accent3>
        <a:accent4>
          <a:srgbClr val="009EE3"/>
        </a:accent4>
        <a:accent5>
          <a:srgbClr val="7B0040"/>
        </a:accent5>
        <a:accent6>
          <a:srgbClr val="506671"/>
        </a:accent6>
        <a:hlink>
          <a:srgbClr val="009EE3"/>
        </a:hlink>
        <a:folHlink>
          <a:srgbClr val="8FA2AC"/>
        </a:folHlink>
      </a:clrScheme>
    </a:extraClrScheme>
  </a:extraClrSchemeLst>
  <a:extLst>
    <a:ext uri="{05A4C25C-085E-4340-85A3-A5531E510DB2}">
      <thm15:themeFamily xmlns:thm15="http://schemas.microsoft.com/office/thememl/2012/main" name="E+H_InitialSlideSet.potx" id="{98C174CC-C5B5-4AB4-BC4B-0BC745B13C12}" vid="{38021556-C356-41FE-921A-E256F04B2E9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+H Serif">
      <a:majorFont>
        <a:latin typeface="E+H Serif"/>
        <a:ea typeface=""/>
        <a:cs typeface="E+H Serif"/>
      </a:majorFont>
      <a:minorFont>
        <a:latin typeface="E+H Serif"/>
        <a:ea typeface=""/>
        <a:cs typeface="E+H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>
            <a:latin typeface="E+H Serif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>
            <a:latin typeface="E+H Serif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+H Serif">
      <a:majorFont>
        <a:latin typeface="E+H Serif"/>
        <a:ea typeface=""/>
        <a:cs typeface="E+H Serif"/>
      </a:majorFont>
      <a:minorFont>
        <a:latin typeface="E+H Serif"/>
        <a:ea typeface=""/>
        <a:cs typeface="E+H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>
            <a:latin typeface="E+H Serif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>
            <a:latin typeface="E+H Serif" pitchFamily="18" charset="0"/>
          </a:defRPr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a6c9696d-1eec-420a-b861-df9f7016089a">CYT3FJY47ZTE-1526228123-28878</_dlc_DocId>
    <TaxKeywordTaxHTField xmlns="a6c9696d-1eec-420a-b861-df9f7016089a">
      <Terms xmlns="http://schemas.microsoft.com/office/infopath/2007/PartnerControls"/>
    </TaxKeywordTaxHTField>
    <_dlc_DocIdUrl xmlns="a6c9696d-1eec-420a-b861-df9f7016089a">
      <Url>https://endresshauser.sharepoint.com/teams/pg0005163/_layouts/15/DocIdRedir.aspx?ID=CYT3FJY47ZTE-1526228123-28878</Url>
      <Description>CYT3FJY47ZTE-1526228123-28878</Description>
    </_dlc_DocIdUrl>
    <TaxCatchAll xmlns="a6c9696d-1eec-420a-b861-df9f7016089a" xsi:nil="true"/>
    <lcf76f155ced4ddcb4097134ff3c332f xmlns="f89e5d6d-f4ae-4c9c-adab-907c76f6270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3DEC83EDB8345B0770D02DE2897BF" ma:contentTypeVersion="21" ma:contentTypeDescription="Create a new document." ma:contentTypeScope="" ma:versionID="828726e862fe972c2d80de4708c60853">
  <xsd:schema xmlns:xsd="http://www.w3.org/2001/XMLSchema" xmlns:xs="http://www.w3.org/2001/XMLSchema" xmlns:p="http://schemas.microsoft.com/office/2006/metadata/properties" xmlns:ns2="a6c9696d-1eec-420a-b861-df9f7016089a" xmlns:ns3="f89e5d6d-f4ae-4c9c-adab-907c76f6270e" targetNamespace="http://schemas.microsoft.com/office/2006/metadata/properties" ma:root="true" ma:fieldsID="eb02786a3bce1b0b7dce07ba7f2d52cf" ns2:_="" ns3:_="">
    <xsd:import namespace="a6c9696d-1eec-420a-b861-df9f7016089a"/>
    <xsd:import namespace="f89e5d6d-f4ae-4c9c-adab-907c76f6270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2:SharedWithUsers" minOccurs="0"/>
                <xsd:element ref="ns2:SharedWithDetail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c9696d-1eec-420a-b861-df9f7016089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2" nillable="true" ma:taxonomy="true" ma:internalName="TaxKeywordTaxHTField" ma:taxonomyFieldName="TaxKeyword" ma:displayName="Tags" ma:fieldId="{23f27201-bee3-471e-b2e7-b64fd8b7ca38}" ma:taxonomyMulti="true" ma:sspId="c6465ffd-3483-425a-9bf3-5cb225f4cc5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f44ba3ff-c240-4f51-8f74-b115d6b2a7d8}" ma:internalName="TaxCatchAll" ma:showField="CatchAllData" ma:web="a6c9696d-1eec-420a-b861-df9f7016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e5d6d-f4ae-4c9c-adab-907c76f627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6465ffd-3483-425a-9bf3-5cb225f4cc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7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23EB7FC-7339-4FAC-92B0-93A9DD7C5DB1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f89e5d6d-f4ae-4c9c-adab-907c76f6270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a6c9696d-1eec-420a-b861-df9f7016089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CADDE4-2039-45A9-95E6-3A87201AAFCE}">
  <ds:schemaRefs>
    <ds:schemaRef ds:uri="a6c9696d-1eec-420a-b861-df9f7016089a"/>
    <ds:schemaRef ds:uri="f89e5d6d-f4ae-4c9c-adab-907c76f627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F94B53E-73D0-4812-B8B9-26CBFA4AC7A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FB863FE-236B-41CA-B952-49CC51183028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2988f0a4-524a-45f2-829d-417725fa4957}" enabled="1" method="Standard" siteId="{52daf2a9-3b73-4da4-ac6a-3f81adc92b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E+H_InitialSlideSet</Template>
  <TotalTime>0</TotalTime>
  <Words>1617</Words>
  <Application>Microsoft Office PowerPoint</Application>
  <PresentationFormat>Widescreen</PresentationFormat>
  <Paragraphs>404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Cambria Math</vt:lpstr>
      <vt:lpstr>E+H Sans</vt:lpstr>
      <vt:lpstr>E+H Sans Asia_ME</vt:lpstr>
      <vt:lpstr>E+H Serif</vt:lpstr>
      <vt:lpstr>Wingdings</vt:lpstr>
      <vt:lpstr>E+H_OnScreen</vt:lpstr>
      <vt:lpstr>Gaussian Processes  </vt:lpstr>
      <vt:lpstr>Content</vt:lpstr>
      <vt:lpstr>PowerPoint Presentation</vt:lpstr>
      <vt:lpstr>ML -&gt; Supervised Learning -&gt; Regression </vt:lpstr>
      <vt:lpstr>Supervised Learning (Regression)</vt:lpstr>
      <vt:lpstr>Supervised Learning (Regression)</vt:lpstr>
      <vt:lpstr>Supervised Learning (Regression)</vt:lpstr>
      <vt:lpstr>Supervised Learning (Regression)</vt:lpstr>
      <vt:lpstr>Supervised Learning (Regression)</vt:lpstr>
      <vt:lpstr>How does Bayesian approach work?</vt:lpstr>
      <vt:lpstr>What are Gaussian Processes (GPs)?</vt:lpstr>
      <vt:lpstr>PowerPoint Presentation</vt:lpstr>
      <vt:lpstr>PowerPoint Presentation</vt:lpstr>
      <vt:lpstr>When to use a GP?</vt:lpstr>
      <vt:lpstr>Separation tool: Gaussian Processes (GP)</vt:lpstr>
      <vt:lpstr>Gaussian Process consists out of three steps</vt:lpstr>
      <vt:lpstr>Gaussian Process consists out of three steps</vt:lpstr>
      <vt:lpstr>Gaussian Process consists out of three steps</vt:lpstr>
      <vt:lpstr>HBSI[2028+] is the last value in the HBSI_Drift vector</vt:lpstr>
      <vt:lpstr>Gaussian Process Concept on HBSI[2021] with drift</vt:lpstr>
      <vt:lpstr>PowerPoint Presentation</vt:lpstr>
      <vt:lpstr>Pipeline Goals</vt:lpstr>
      <vt:lpstr>Pipeline</vt:lpstr>
      <vt:lpstr>Pipeline</vt:lpstr>
      <vt:lpstr>Test Case Definition</vt:lpstr>
      <vt:lpstr>Test Case Definition</vt:lpstr>
      <vt:lpstr>Logging with MLFlow</vt:lpstr>
      <vt:lpstr>Compare KPIs between Runs</vt:lpstr>
      <vt:lpstr>Compare KPIs between Runs</vt:lpstr>
      <vt:lpstr>Compare KPIs between Runs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 Schirmeier</dc:creator>
  <cp:lastModifiedBy>Max Bergau</cp:lastModifiedBy>
  <cp:revision>3</cp:revision>
  <dcterms:created xsi:type="dcterms:W3CDTF">2026-02-24T14:47:38Z</dcterms:created>
  <dcterms:modified xsi:type="dcterms:W3CDTF">2026-03-12T14:07:14Z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e4c73a60-c04c-4c80-b9e4-7b7528d3df89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ContentTypeId">
    <vt:lpwstr>0x0101009753DEC83EDB8345B0770D02DE2897BF</vt:lpwstr>
  </property>
</Properties>
</file>